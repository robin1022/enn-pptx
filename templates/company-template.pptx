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74" r:id="rId2"/>
    <p:sldId id="264" r:id="rId3"/>
    <p:sldId id="27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7" userDrawn="1">
          <p15:clr>
            <a:srgbClr val="A4A3A4"/>
          </p15:clr>
        </p15:guide>
        <p15:guide id="2" pos="38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lihai" initials="z" lastIdx="0" clrIdx="0"/>
  <p:cmAuthor id="2" name="史玉江" initials="史玉江" lastIdx="0" clrIdx="1"/>
  <p:cmAuthor id="3" name="雷航" initials="雷航" lastIdx="0" clrIdx="2"/>
  <p:cmAuthor id="4" name="Wanda X Wang" initials="WXW" lastIdx="0" clrIdx="3"/>
  <p:cmAuthor id="5" name="ddppqq" initials="d" lastIdx="0" clrIdx="4"/>
  <p:cmAuthor id="6" name="Cherry XH Li" initials="CXL" lastIdx="0" clrIdx="5"/>
  <p:cmAuthor id="7" name="吴永建" initials="吴永建" lastIdx="0" clrIdx="6"/>
  <p:cmAuthor id="8" name="石堤_VZNvERfu" initials="authorId_420050280" lastIdx="0" clrIdx="7"/>
  <p:cmAuthor id="9" name="xb21cn" initials="xb21cn" lastIdx="0" clrIdx="8"/>
  <p:cmAuthor id="10" name="静 郭" initials="静" lastIdx="0" clrIdx="9"/>
  <p:cmAuthor id="11" name="admin" initials="a" lastIdx="0" clrIdx="10"/>
  <p:cmAuthor id="12" name="zhangjunas" initials="z" lastIdx="0" clrIdx="11"/>
  <p:cmAuthor id="13" name="Yan Y Yang" initials="YYY" lastIdx="0" clrIdx="12"/>
  <p:cmAuthor id="14" name="曹浩" initials="曹浩" lastIdx="0" clrIdx="13"/>
  <p:cmAuthor id="15" name="nuctony" initials="n" lastIdx="0" clrIdx="14"/>
  <p:cmAuthor id="16" name="鹏 鹏" initials="鹏" lastIdx="0" clrIdx="15"/>
  <p:cmAuthor id="17" name="vip126" initials="v" lastIdx="0" clrIdx="16"/>
  <p:cmAuthor id="18" name="凤娜" initials="凤娜" lastIdx="0" clrIdx="17"/>
  <p:cmAuthor id="19" name="liwenna" initials="l" lastIdx="0" clrIdx="18"/>
  <p:cmAuthor id="20" name="SEC" initials="S" lastIdx="0" clrIdx="19"/>
  <p:cmAuthor id="21" name="杨巧利" initials="杨巧利" lastIdx="0" clrIdx="20"/>
  <p:cmAuthor id="22" name="Administrator" initials="A" lastIdx="0" clrIdx="21"/>
  <p:cmAuthor id="23" name="guoweiwei" initials="g" lastIdx="0" clrIdx="22"/>
  <p:cmAuthor id="24" name="李东" initials="李东" lastIdx="0" clrIdx="23"/>
  <p:cmAuthor id="25" name="张方" initials="张方" lastIdx="0" clrIdx="24"/>
  <p:cmAuthor id="26" name="quanxiangjin" initials="q" lastIdx="0" clrIdx="25"/>
  <p:cmAuthor id="27" name="jianan" initials="j" lastIdx="0" clrIdx="26"/>
  <p:cmAuthor id="28" name="86151" initials="8" lastIdx="0" clrIdx="27"/>
  <p:cmAuthor id="29" name="hanwe" initials="h" lastIdx="0" clrIdx="28"/>
  <p:cmAuthor id="30" name="geminchao" initials="g" lastIdx="0" clrIdx="29"/>
  <p:cmAuthor id="31" name="tao" initials="t" lastIdx="0" clrIdx="30"/>
  <p:cmAuthor id="32" name="10295142" initials="1" lastIdx="0" clrIdx="31"/>
  <p:cmAuthor id="33" name="subin" initials="s" lastIdx="0" clrIdx="32"/>
  <p:cmAuthor id="34" name="zhangyu" initials="z" lastIdx="0" clrIdx="33"/>
  <p:cmAuthor id="35" name="10056791" initials="ZTE" lastIdx="0" clrIdx="34"/>
  <p:cmAuthor id="36" name="lx" initials="l" lastIdx="0" clrIdx="35"/>
  <p:cmAuthor id="37" name="李楠10047711" initials="李楠10047711" lastIdx="0" clrIdx="36"/>
  <p:cmAuthor id="38" name="10045953" initials="1" lastIdx="0" clrIdx="37"/>
  <p:cmAuthor id="39" name="Y Y" initials="YY" lastIdx="0" clrIdx="38"/>
  <p:cmAuthor id="40" name="李振宇" initials="李" lastIdx="0" clrIdx="39"/>
  <p:cmAuthor id="41" name="Microsoft 帐户" initials="M帐" lastIdx="0" clrIdx="40"/>
  <p:cmAuthor id="42" name="黄珂10009187" initials="黄珂10009187" lastIdx="0" clrIdx="41"/>
  <p:cmAuthor id="43" name="赵欣" initials="zx" lastIdx="0" clrIdx="42"/>
  <p:cmAuthor id="44" name="中友 李" initials="中友" lastIdx="0" clrIdx="43"/>
  <p:cmAuthor id="45" name="lu xinmei" initials="lx" lastIdx="0" clrIdx="44"/>
  <p:cmAuthor id="46" name="yangkun" initials="y" lastIdx="0" clrIdx="45"/>
  <p:cmAuthor id="47" name="王明明" initials="王" lastIdx="0" clrIdx="46"/>
  <p:cmAuthor id="48" name="Lenovo User" initials="L" lastIdx="0" clrIdx="47"/>
  <p:cmAuthor id="49" name="hys2" initials="h" lastIdx="0" clrIdx="48"/>
  <p:cmAuthor id="50" name="赵琦" initials="赵" lastIdx="0" clrIdx="49"/>
  <p:cmAuthor id="51" name="朱绍春" initials="朱" lastIdx="0" clrIdx="50"/>
  <p:cmAuthor id="52" name="番茄花园" initials="番" lastIdx="0" clrIdx="51"/>
  <p:cmAuthor id="53" name="朱悦龙" initials="朱" lastIdx="0" clrIdx="52"/>
  <p:cmAuthor id="54" name="evil" initials="e" lastIdx="0" clrIdx="53"/>
  <p:cmAuthor id="55" name="dell" initials="d" lastIdx="0" clrIdx="54"/>
  <p:cmAuthor id="56" name="吕志勇" initials="吕" lastIdx="0" clrIdx="55"/>
  <p:cmAuthor id="57" name="何已龙" initials="何" lastIdx="0" clrIdx="56"/>
  <p:cmAuthor id="58" name="叶得会" initials="叶" lastIdx="0" clrIdx="57"/>
  <p:cmAuthor id="59" name="未知用户6" initials="未" lastIdx="0" clrIdx="58"/>
  <p:cmAuthor id="60" name="未知用户8" initials="未" lastIdx="0" clrIdx="59"/>
  <p:cmAuthor id="61" name="未知用户7" initials="未" lastIdx="0" clrIdx="60"/>
  <p:cmAuthor id="62" name="未知用户9" initials="未" lastIdx="0" clrIdx="61"/>
  <p:cmAuthor id="63" name="未知用户17" initials="未" lastIdx="0" clrIdx="62"/>
  <p:cmAuthor id="64" name="未知用户18" initials="未" lastIdx="0" clrIdx="63"/>
  <p:cmAuthor id="65" name="未知用户20" initials="未" lastIdx="0" clrIdx="64"/>
  <p:cmAuthor id="66" name="未知用户19" initials="未" lastIdx="0" clrIdx="65"/>
  <p:cmAuthor id="67" name="未知用户21" initials="未" lastIdx="0" clrIdx="66"/>
  <p:cmAuthor id="68" name="未知用户14" initials="未" lastIdx="0" clrIdx="67"/>
  <p:cmAuthor id="69" name="未知用户15" initials="未" lastIdx="0" clrIdx="68"/>
  <p:cmAuthor id="70" name="未知用户16" initials="未" lastIdx="0" clrIdx="69"/>
  <p:cmAuthor id="71" name="郝崇" initials="郝" lastIdx="0" clrIdx="70"/>
  <p:cmAuthor id="72" name="吴杰" initials="吴" lastIdx="0" clrIdx="71"/>
  <p:cmAuthor id="73" name="刘丽仙" initials="刘" lastIdx="0" clrIdx="72"/>
  <p:cmAuthor id="74" name="杨艳霞" initials="杨" lastIdx="0" clrIdx="73"/>
  <p:cmAuthor id="75" name="未定义" initials="未" lastIdx="0" clrIdx="74"/>
  <p:cmAuthor id="76" name="rq fan" initials="r" lastIdx="0" clrIdx="75"/>
  <p:cmAuthor id="77" name="dingbo" initials="d" lastIdx="0" clrIdx="76"/>
  <p:cmAuthor id="78" name="作者" initials="A" lastIdx="0" clrIdx="77"/>
  <p:cmAuthor id="79" name="leng hailong" initials="lh" lastIdx="0" clrIdx="78"/>
  <p:cmAuthor id="80" name="wangdw" initials="w" lastIdx="0" clrIdx="79"/>
  <p:cmAuthor id="81" name="未知用户23" initials="未" lastIdx="0" clrIdx="80"/>
  <p:cmAuthor id="82" name="未知用户24" initials="未" lastIdx="0" clrIdx="81"/>
  <p:cmAuthor id="83" name="未知用户25" initials="未" lastIdx="0" clrIdx="82"/>
  <p:cmAuthor id="84" name="未知用户26" initials="未" lastIdx="0" clrIdx="83"/>
  <p:cmAuthor id="85" name="未知用户27" initials="未" lastIdx="0" clrIdx="84"/>
  <p:cmAuthor id="86" name="未知用户28" initials="未" lastIdx="0" clrIdx="85"/>
  <p:cmAuthor id="87" name="未知用户29" initials="未" lastIdx="0" clrIdx="86"/>
  <p:cmAuthor id="88" name="陈尚文" initials="陈" lastIdx="0" clrIdx="87"/>
  <p:cmAuthor id="89" name="张宏伟" initials="张" lastIdx="0" clrIdx="88"/>
  <p:cmAuthor id="90" name="Yuan Hu" initials="Y" lastIdx="0" clrIdx="89"/>
  <p:cmAuthor id="91" name="Pei" initials="P" lastIdx="0" clrIdx="90"/>
  <p:cmAuthor id="92" name="Ying Li" initials="Y" lastIdx="0" clrIdx="91"/>
  <p:cmAuthor id="93" name="李威" initials="李" lastIdx="0" clrIdx="92"/>
  <p:cmAuthor id="94" name="范作霖" initials="范" lastIdx="0" clrIdx="93"/>
  <p:cmAuthor id="95" name="李百秋" initials="李" lastIdx="0" clrIdx="94"/>
  <p:cmAuthor id="96" name="张立鑫" initials="张" lastIdx="0" clrIdx="95"/>
  <p:cmAuthor id="97" name="杨静" initials="杨" lastIdx="0" clrIdx="96"/>
  <p:cmAuthor id="98" name="包珊珊" initials="包" lastIdx="0" clrIdx="97"/>
  <p:cmAuthor id="99" name="YuQing" initials="Y" lastIdx="0" clrIdx="98"/>
  <p:cmAuthor id="100" name="Youwen Sun" initials="Y" lastIdx="0" clrIdx="99"/>
  <p:cmAuthor id="101" name="�ǲ�����" initials="�" lastIdx="0" clrIdx="100"/>
  <p:cmAuthor id="102" name="牛宏民" initials="牛" lastIdx="0" clrIdx="101"/>
  <p:cmAuthor id="103" name="毛香勤" initials="毛" lastIdx="0" clrIdx="102"/>
  <p:cmAuthor id="104" name="dadi" initials="d" lastIdx="0" clrIdx="103"/>
  <p:cmAuthor id="105" name="郑廷东" initials="郑" lastIdx="0" clrIdx="104"/>
  <p:cmAuthor id="106" name="张田田" initials="张" lastIdx="0" clrIdx="105"/>
  <p:cmAuthor id="107" name="杨彦伟" initials="杨" lastIdx="0" clrIdx="106"/>
  <p:cmAuthor id="108" name="徐光宇" initials="徐" lastIdx="0" clrIdx="107"/>
  <p:cmAuthor id="109" name="mac" initials="m" lastIdx="0" clrIdx="108"/>
  <p:cmAuthor id="110" name="刘豹" initials="刘" lastIdx="0" clrIdx="109"/>
  <p:cmAuthor id="111" name="张艳芳" initials="张" lastIdx="0" clrIdx="110"/>
  <p:cmAuthor id="112" name="王志刚" initials="王" lastIdx="0" clrIdx="111"/>
  <p:cmAuthor id="113" name="孙大威" initials="孙" lastIdx="0" clrIdx="112"/>
  <p:cmAuthor id="114" name="徐杰" initials="徐" lastIdx="0" clrIdx="113"/>
  <p:cmAuthor id="115" name="席美娟" initials="席" lastIdx="0" clrIdx="114"/>
  <p:cmAuthor id="116" name="朱海平" initials="朱" lastIdx="0" clrIdx="115"/>
  <p:cmAuthor id="117" name="王景红" initials="王" lastIdx="0" clrIdx="116"/>
  <p:cmAuthor id="118" name="席金煜" initials="席" lastIdx="0" clrIdx="117"/>
  <p:cmAuthor id="119" name="樊佳佳" initials="樊" lastIdx="0" clrIdx="118"/>
  <p:cmAuthor id="120" name="fgx" initials="f" lastIdx="0" clrIdx="119"/>
  <p:cmAuthor id="121" name="郑汝鸿" initials="郑" lastIdx="0" clrIdx="120"/>
  <p:cmAuthor id="122" name="杨秀丰" initials="杨" lastIdx="0" clrIdx="121"/>
  <p:cmAuthor id="123" name="惠莲" initials="惠" lastIdx="0" clrIdx="122"/>
  <p:cmAuthor id="124" name="邢辰凤" initials="邢" lastIdx="0" clrIdx="123"/>
  <p:cmAuthor id="125" name="liang ma" initials="l" lastIdx="0" clrIdx="124"/>
  <p:cmAuthor id="126" name="高永刚" initials="高" lastIdx="0" clrIdx="125"/>
  <p:cmAuthor id="127" name="未知用户46" initials="未" lastIdx="0" clrIdx="126"/>
  <p:cmAuthor id="128" name="未知用户47" initials="未" lastIdx="0" clrIdx="127"/>
  <p:cmAuthor id="129" name="未知用户42" initials="未" lastIdx="0" clrIdx="128"/>
  <p:cmAuthor id="130" name="黄晓平" initials="黄" lastIdx="0" clrIdx="129"/>
  <p:cmAuthor id="131" name="未知用户43" initials="未" lastIdx="0" clrIdx="130"/>
  <p:cmAuthor id="132" name="未知用户48" initials="未" lastIdx="0" clrIdx="131"/>
  <p:cmAuthor id="133" name="未知用户49" initials="未" lastIdx="0" clrIdx="132"/>
  <p:cmAuthor id="134" name="未知用户50" initials="未" lastIdx="0" clrIdx="133"/>
  <p:cmAuthor id="135" name="未知用户51" initials="未" lastIdx="0" clrIdx="134"/>
  <p:cmAuthor id="136" name="未知用户52" initials="未" lastIdx="0" clrIdx="135"/>
  <p:cmAuthor id="137" name="未知用户53" initials="未" lastIdx="0" clrIdx="136"/>
  <p:cmAuthor id="138" name="未知用户54" initials="未" lastIdx="0" clrIdx="137"/>
  <p:cmAuthor id="139" name="未知用户55" initials="未" lastIdx="0" clrIdx="138"/>
  <p:cmAuthor id="140" name="未知用户56" initials="未" lastIdx="0" clrIdx="139"/>
  <p:cmAuthor id="141" name="未知用户57" initials="未" lastIdx="0" clrIdx="140"/>
  <p:cmAuthor id="142" name="未知用户58" initials="未" lastIdx="0" clrIdx="141"/>
  <p:cmAuthor id="143" name="未知用户59" initials="未" lastIdx="0" clrIdx="142"/>
  <p:cmAuthor id="144" name="光启" initials="光" lastIdx="0" clrIdx="143"/>
  <p:cmAuthor id="145" name="侯雪飞" initials="侯" lastIdx="0" clrIdx="144"/>
  <p:cmAuthor id="146" name="太海峰" initials="太" lastIdx="0" clrIdx="145"/>
  <p:cmAuthor id="147" name="hk z" initials="hz" lastIdx="0" clrIdx="14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F0E8"/>
    <a:srgbClr val="9DC3E6"/>
    <a:srgbClr val="607D8B"/>
    <a:srgbClr val="B4C7E7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32" autoAdjust="0"/>
    <p:restoredTop sz="93867" autoAdjust="0"/>
  </p:normalViewPr>
  <p:slideViewPr>
    <p:cSldViewPr snapToGrid="0" showGuides="1">
      <p:cViewPr varScale="1">
        <p:scale>
          <a:sx n="67" d="100"/>
          <a:sy n="67" d="100"/>
        </p:scale>
        <p:origin x="920" y="60"/>
      </p:cViewPr>
      <p:guideLst>
        <p:guide orient="horz" pos="2237"/>
        <p:guide pos="380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这里用例。需要结合到现在智家场景一个端到端。</a:t>
            </a:r>
          </a:p>
          <a:p>
            <a:r>
              <a:rPr lang="zh-CN" altLang="en-US" dirty="0"/>
              <a:t>讲清楚</a:t>
            </a:r>
            <a:r>
              <a:rPr lang="en-US" altLang="zh-CN" dirty="0"/>
              <a:t>data layer</a:t>
            </a:r>
            <a:r>
              <a:rPr lang="zh-CN" altLang="en-US" dirty="0"/>
              <a:t>和</a:t>
            </a:r>
            <a:r>
              <a:rPr lang="en-US" altLang="zh-CN" dirty="0"/>
              <a:t>ontology </a:t>
            </a:r>
            <a:r>
              <a:rPr lang="zh-CN" altLang="en-US" dirty="0"/>
              <a:t>层。</a:t>
            </a:r>
            <a:r>
              <a:rPr lang="en-US" altLang="zh-CN" dirty="0"/>
              <a:t> </a:t>
            </a:r>
            <a:r>
              <a:rPr lang="zh-CN" altLang="en-US" dirty="0"/>
              <a:t>都是什么。能够比较直观的。用个例子来讲。语义层。参考</a:t>
            </a:r>
            <a:r>
              <a:rPr lang="en-US" altLang="zh-CN" dirty="0"/>
              <a:t>PLTR</a:t>
            </a:r>
            <a:r>
              <a:rPr lang="zh-CN" altLang="en-US" dirty="0"/>
              <a:t>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0792B2-38ED-4CD7-BA7B-57F1A2CB57A7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1926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/>
          <a:srcRect t="64958"/>
          <a:stretch>
            <a:fillRect/>
          </a:stretch>
        </p:blipFill>
        <p:spPr>
          <a:xfrm>
            <a:off x="327992" y="570657"/>
            <a:ext cx="2743984" cy="96816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79906" y="2315461"/>
            <a:ext cx="9144000" cy="100647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5400" b="1" i="0">
                <a:solidFill>
                  <a:srgbClr val="004F99"/>
                </a:solidFill>
                <a:latin typeface="微软雅黑" charset="-122"/>
                <a:ea typeface="微软雅黑" charset="-122"/>
              </a:defRPr>
            </a:lvl1pPr>
          </a:lstStyle>
          <a:p>
            <a:r>
              <a:rPr kumimoji="1" lang="zh-CN" altLang="en-US" dirty="0"/>
              <a:t>主标题微软雅黑</a:t>
            </a:r>
            <a:r>
              <a:rPr kumimoji="1" lang="en-US" altLang="zh-CN" dirty="0"/>
              <a:t>54pt</a:t>
            </a:r>
            <a:r>
              <a:rPr kumimoji="1" lang="zh-CN" altLang="en-US" dirty="0"/>
              <a:t>加粗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79906" y="3536065"/>
            <a:ext cx="7348458" cy="4973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rgbClr val="004F99"/>
                </a:solidFill>
                <a:latin typeface="微软雅黑" charset="-122"/>
                <a:ea typeface="微软雅黑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副标题微软雅黑</a:t>
            </a:r>
            <a:r>
              <a:rPr kumimoji="1" lang="en-US" altLang="zh-CN" dirty="0"/>
              <a:t>24pt</a:t>
            </a:r>
            <a:endParaRPr kumimoji="1"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705599"/>
            <a:ext cx="12192001" cy="1716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31376" y="0"/>
            <a:ext cx="12192000" cy="2541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内容占位符 2"/>
          <p:cNvSpPr>
            <a:spLocks noGrp="1"/>
          </p:cNvSpPr>
          <p:nvPr>
            <p:ph sz="half" idx="1"/>
          </p:nvPr>
        </p:nvSpPr>
        <p:spPr>
          <a:xfrm>
            <a:off x="1613646" y="2172073"/>
            <a:ext cx="5688105" cy="1604497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n"/>
              <a:defRPr sz="2400" b="0" i="0">
                <a:solidFill>
                  <a:srgbClr val="004F99"/>
                </a:solidFill>
                <a:latin typeface="微软雅黑" charset="-122"/>
                <a:ea typeface="微软雅黑" charset="-122"/>
              </a:defRPr>
            </a:lvl1pPr>
            <a:lvl2pPr marL="457200" indent="0">
              <a:buNone/>
              <a:defRPr sz="2800" b="0" i="0">
                <a:solidFill>
                  <a:srgbClr val="004F99"/>
                </a:solidFill>
                <a:latin typeface="微软雅黑" charset="-122"/>
                <a:ea typeface="微软雅黑" charset="-122"/>
              </a:defRPr>
            </a:lvl2pPr>
            <a:lvl3pPr marL="914400" indent="0">
              <a:buNone/>
              <a:defRPr sz="2400" b="0" i="0">
                <a:solidFill>
                  <a:srgbClr val="004F99"/>
                </a:solidFill>
                <a:latin typeface="微软雅黑" charset="-122"/>
                <a:ea typeface="微软雅黑" charset="-122"/>
              </a:defRPr>
            </a:lvl3pPr>
            <a:lvl4pPr marL="1371600" indent="0">
              <a:buNone/>
              <a:defRPr b="0" i="0">
                <a:solidFill>
                  <a:srgbClr val="004F99"/>
                </a:solidFill>
                <a:latin typeface="微软雅黑" charset="-122"/>
                <a:ea typeface="微软雅黑" charset="-122"/>
              </a:defRPr>
            </a:lvl4pPr>
            <a:lvl5pPr marL="1828800" indent="0">
              <a:buNone/>
              <a:defRPr b="0" i="0">
                <a:solidFill>
                  <a:srgbClr val="004F99"/>
                </a:solidFill>
                <a:latin typeface="微软雅黑" charset="-122"/>
                <a:ea typeface="微软雅黑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995082" y="1064371"/>
            <a:ext cx="15151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F9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目  录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05599"/>
            <a:ext cx="12192001" cy="1716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257778" y="414779"/>
            <a:ext cx="9442403" cy="405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52493" y="6400412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600" b="1">
                <a:solidFill>
                  <a:srgbClr val="004F99"/>
                </a:solidFill>
                <a:latin typeface="微软雅黑" charset="-122"/>
                <a:ea typeface="微软雅黑" charset="-122"/>
              </a:defRPr>
            </a:lvl1pPr>
          </a:lstStyle>
          <a:p>
            <a:fld id="{9EC25845-EE93-D643-B211-2BF1DFC6D933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1926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79906" y="2807998"/>
            <a:ext cx="9144000" cy="100647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5400" b="1" i="0">
                <a:solidFill>
                  <a:srgbClr val="004F99"/>
                </a:solidFill>
                <a:latin typeface="微软雅黑" charset="-122"/>
                <a:ea typeface="微软雅黑" charset="-122"/>
              </a:defRPr>
            </a:lvl1pPr>
          </a:lstStyle>
          <a:p>
            <a:r>
              <a:rPr kumimoji="1" lang="zh-CN" altLang="en-US" dirty="0"/>
              <a:t>谢 谢！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05599"/>
            <a:ext cx="12192001" cy="17166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/>
          <a:srcRect t="64958"/>
          <a:stretch>
            <a:fillRect/>
          </a:stretch>
        </p:blipFill>
        <p:spPr>
          <a:xfrm>
            <a:off x="327992" y="570657"/>
            <a:ext cx="2743984" cy="9681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257778" y="414779"/>
            <a:ext cx="10515600" cy="405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52493" y="6400412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600" b="1">
                <a:solidFill>
                  <a:srgbClr val="004F99"/>
                </a:solidFill>
                <a:latin typeface="微软雅黑" charset="-122"/>
                <a:ea typeface="微软雅黑" charset="-122"/>
              </a:defRPr>
            </a:lvl1pPr>
          </a:lstStyle>
          <a:p>
            <a:fld id="{9EC25845-EE93-D643-B211-2BF1DFC6D933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C25845-EE93-D643-B211-2BF1DFC6D933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zh-CN" altLang="en-US" dirty="0"/>
              <a:t>小标题</a:t>
            </a:r>
            <a:r>
              <a:rPr kumimoji="1" lang="en-US" altLang="zh-CN" dirty="0"/>
              <a:t>-</a:t>
            </a:r>
            <a:r>
              <a:rPr kumimoji="1" lang="zh-CN" altLang="en-US" dirty="0"/>
              <a:t>微软雅黑加粗</a:t>
            </a:r>
            <a:r>
              <a:rPr kumimoji="1" lang="en-US" altLang="zh-CN" dirty="0"/>
              <a:t>32</a:t>
            </a:r>
            <a:r>
              <a:rPr kumimoji="1" lang="zh-CN" altLang="en-US" dirty="0"/>
              <a:t>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FFA5D-09F6-184C-98D2-7E116F41FA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-蓝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1058427" y="1937446"/>
            <a:ext cx="7784122" cy="914400"/>
          </a:xfrm>
        </p:spPr>
        <p:txBody>
          <a:bodyPr>
            <a:noAutofit/>
          </a:bodyPr>
          <a:lstStyle>
            <a:lvl1pPr marL="0" indent="0">
              <a:buNone/>
              <a:defRPr sz="4800" b="1">
                <a:solidFill>
                  <a:schemeClr val="bg2"/>
                </a:solidFill>
                <a:effectLst>
                  <a:outerShdw blurRad="238224" dist="100707" dir="2700000" sx="99658" sy="99658" algn="tl" rotWithShape="0">
                    <a:prstClr val="black">
                      <a:alpha val="77441"/>
                    </a:prstClr>
                  </a:outerShdw>
                </a:effectLst>
              </a:defRPr>
            </a:lvl1pPr>
            <a:lvl2pPr marL="457200" indent="0">
              <a:buNone/>
              <a:defRPr sz="4400" b="1">
                <a:solidFill>
                  <a:schemeClr val="bg2"/>
                </a:solidFill>
                <a:effectLst>
                  <a:outerShdw blurRad="238224" dist="100707" dir="2700000" sx="99658" sy="99658" algn="tl" rotWithShape="0">
                    <a:prstClr val="black">
                      <a:alpha val="77441"/>
                    </a:prstClr>
                  </a:outerShdw>
                </a:effectLst>
              </a:defRPr>
            </a:lvl2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endParaRPr kumimoji="1" lang="zh-CN" altLang="en-US" dirty="0"/>
          </a:p>
        </p:txBody>
      </p:sp>
      <p:sp>
        <p:nvSpPr>
          <p:cNvPr id="11" name="文本占位符 9"/>
          <p:cNvSpPr>
            <a:spLocks noGrp="1"/>
          </p:cNvSpPr>
          <p:nvPr>
            <p:ph type="body" sz="quarter" idx="11"/>
          </p:nvPr>
        </p:nvSpPr>
        <p:spPr>
          <a:xfrm>
            <a:off x="1058427" y="3133200"/>
            <a:ext cx="7784122" cy="720343"/>
          </a:xfr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bg2"/>
                </a:solidFill>
                <a:effectLst>
                  <a:outerShdw blurRad="238224" dist="100707" dir="2700000" sx="99658" sy="99658" algn="tl" rotWithShape="0">
                    <a:prstClr val="black">
                      <a:alpha val="77441"/>
                    </a:prstClr>
                  </a:outerShdw>
                </a:effectLst>
              </a:defRPr>
            </a:lvl1pPr>
            <a:lvl2pPr marL="457200" indent="0">
              <a:buNone/>
              <a:defRPr sz="2400" b="1">
                <a:solidFill>
                  <a:schemeClr val="bg2"/>
                </a:solidFill>
                <a:effectLst>
                  <a:outerShdw blurRad="238224" dist="100707" dir="2700000" sx="99658" sy="99658" algn="tl" rotWithShape="0">
                    <a:prstClr val="black">
                      <a:alpha val="77441"/>
                    </a:prstClr>
                  </a:outerShdw>
                </a:effectLst>
              </a:defRPr>
            </a:lvl2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1"/>
          <a:srcRect t="64958"/>
          <a:stretch>
            <a:fillRect/>
          </a:stretch>
        </p:blipFill>
        <p:spPr>
          <a:xfrm>
            <a:off x="9652347" y="196160"/>
            <a:ext cx="2204309" cy="777749"/>
          </a:xfrm>
          <a:prstGeom prst="rect">
            <a:avLst/>
          </a:prstGeom>
        </p:spPr>
      </p:pic>
      <p:sp>
        <p:nvSpPr>
          <p:cNvPr id="8" name="标题占位符 1"/>
          <p:cNvSpPr txBox="1"/>
          <p:nvPr userDrawn="1"/>
        </p:nvSpPr>
        <p:spPr>
          <a:xfrm>
            <a:off x="161358" y="257654"/>
            <a:ext cx="10515600" cy="693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4F99"/>
                </a:solidFill>
                <a:latin typeface="微软雅黑" charset="-122"/>
                <a:ea typeface="微软雅黑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004F99"/>
              </a:solidFill>
              <a:effectLst/>
              <a:uLnTx/>
              <a:uFillTx/>
              <a:latin typeface="微软雅黑" charset="-122"/>
              <a:ea typeface="微软雅黑" charset="-122"/>
              <a:cs typeface="+mj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328363" y="931171"/>
            <a:ext cx="9360000" cy="36000"/>
          </a:xfrm>
          <a:prstGeom prst="rect">
            <a:avLst/>
          </a:prstGeom>
          <a:solidFill>
            <a:srgbClr val="004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占位符 3"/>
          <p:cNvSpPr>
            <a:spLocks noGrp="1"/>
          </p:cNvSpPr>
          <p:nvPr>
            <p:ph type="title"/>
          </p:nvPr>
        </p:nvSpPr>
        <p:spPr>
          <a:xfrm>
            <a:off x="257778" y="414779"/>
            <a:ext cx="10515600" cy="405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52493" y="6400412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600" b="1">
                <a:solidFill>
                  <a:srgbClr val="004F99"/>
                </a:solidFill>
                <a:latin typeface="微软雅黑" charset="-122"/>
                <a:ea typeface="微软雅黑" charset="-122"/>
              </a:defRPr>
            </a:lvl1pPr>
          </a:lstStyle>
          <a:p>
            <a:fld id="{9EC25845-EE93-D643-B211-2BF1DFC6D933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rgbClr val="004F99"/>
          </a:solidFill>
          <a:latin typeface="微软雅黑" charset="-122"/>
          <a:ea typeface="微软雅黑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4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9.xml"/><Relationship Id="rId7" Type="http://schemas.openxmlformats.org/officeDocument/2006/relationships/notesSlide" Target="../notesSlides/notesSlide3.xml"/><Relationship Id="rId12" Type="http://schemas.openxmlformats.org/officeDocument/2006/relationships/image" Target="../media/image8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7.png"/><Relationship Id="rId5" Type="http://schemas.openxmlformats.org/officeDocument/2006/relationships/tags" Target="../tags/tag11.xml"/><Relationship Id="rId10" Type="http://schemas.openxmlformats.org/officeDocument/2006/relationships/image" Target="../media/image6.png"/><Relationship Id="rId4" Type="http://schemas.openxmlformats.org/officeDocument/2006/relationships/tags" Target="../tags/tag10.xm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、客户认知</a:t>
            </a:r>
            <a:r>
              <a:rPr lang="en-US" altLang="zh-CN" dirty="0"/>
              <a:t>--AI Agent </a:t>
            </a:r>
            <a:r>
              <a:rPr lang="zh-CN" altLang="en-US" dirty="0"/>
              <a:t>落地企业，倒逼数据技术架构的重新定义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65760" y="1005205"/>
            <a:ext cx="11170285" cy="406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16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从治理</a:t>
            </a:r>
            <a:r>
              <a:rPr lang="en-US" altLang="zh-CN" sz="16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zh-CN" altLang="en-US" sz="16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“人的数据”到治理“</a:t>
            </a:r>
            <a:r>
              <a:rPr lang="en-US" altLang="zh-CN" sz="16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16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的数据”——一场不得不做的数据技术架构的重构与跃迁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44450" y="1572259"/>
            <a:ext cx="1093470" cy="5033011"/>
          </a:xfrm>
          <a:prstGeom prst="roundRect">
            <a:avLst/>
          </a:prstGeom>
          <a:solidFill>
            <a:srgbClr val="2B5BD7">
              <a:alpha val="8000"/>
            </a:srgb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80000" tIns="180000" rIns="180000" bIns="180000" numCol="1" spcCol="0" rtlCol="0" fromWordArt="0" anchor="ctr" anchorCtr="0" forceAA="0" compatLnSpc="1">
            <a:noAutofit/>
          </a:bodyPr>
          <a:lstStyle/>
          <a:p>
            <a:pPr lvl="0" algn="l"/>
            <a:endParaRPr lang="zh-CN" altLang="en-US" sz="1400" kern="0">
              <a:solidFill>
                <a:srgbClr val="101010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87960" y="2037249"/>
            <a:ext cx="752475" cy="907415"/>
          </a:xfrm>
          <a:prstGeom prst="roundRect">
            <a:avLst/>
          </a:prstGeom>
          <a:solidFill>
            <a:srgbClr val="2156A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charset="0"/>
                <a:ea typeface="微软雅黑" charset="0"/>
                <a:sym typeface="+mn-ea"/>
              </a:rPr>
              <a:t>客户认知</a:t>
            </a:r>
          </a:p>
        </p:txBody>
      </p:sp>
      <p:sp>
        <p:nvSpPr>
          <p:cNvPr id="33" name="圆角矩形 32"/>
          <p:cNvSpPr/>
          <p:nvPr/>
        </p:nvSpPr>
        <p:spPr>
          <a:xfrm>
            <a:off x="187960" y="3898665"/>
            <a:ext cx="752475" cy="863600"/>
          </a:xfrm>
          <a:prstGeom prst="roundRect">
            <a:avLst/>
          </a:prstGeom>
          <a:solidFill>
            <a:srgbClr val="2156A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b="1" dirty="0">
                <a:latin typeface="微软雅黑" charset="0"/>
                <a:ea typeface="微软雅黑" charset="0"/>
                <a:sym typeface="+mn-ea"/>
              </a:rPr>
              <a:t>行业认知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187960" y="5367284"/>
            <a:ext cx="752475" cy="981710"/>
          </a:xfrm>
          <a:prstGeom prst="roundRect">
            <a:avLst/>
          </a:prstGeom>
          <a:solidFill>
            <a:srgbClr val="2156A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b="1" dirty="0">
                <a:latin typeface="微软雅黑" charset="0"/>
                <a:ea typeface="微软雅黑" charset="0"/>
                <a:sym typeface="+mn-ea"/>
              </a:rPr>
              <a:t>技术认知</a:t>
            </a: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9715" y="1830070"/>
            <a:ext cx="592065" cy="4568548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185" y="2214414"/>
            <a:ext cx="426694" cy="5989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703" y="5501904"/>
            <a:ext cx="426694" cy="598908"/>
          </a:xfrm>
          <a:prstGeom prst="rect">
            <a:avLst/>
          </a:prstGeom>
        </p:spPr>
      </p:pic>
      <p:sp>
        <p:nvSpPr>
          <p:cNvPr id="53" name="灯片编号占位符 52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9543974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25845-EE93-D643-B211-2BF1DFC6D933}" type="slidenum">
              <a:rPr kumimoji="1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</a:t>
            </a:fld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1428750" y="1692275"/>
            <a:ext cx="5057775" cy="1624330"/>
          </a:xfrm>
          <a:prstGeom prst="roundRect">
            <a:avLst>
              <a:gd name="adj" fmla="val 2064"/>
            </a:avLst>
          </a:prstGeom>
          <a:solidFill>
            <a:srgbClr val="2B5BD7">
              <a:alpha val="8000"/>
            </a:srgbClr>
          </a:solidFill>
          <a:ln w="6350">
            <a:solidFill>
              <a:srgbClr val="2B5B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ctr">
            <a:noAutofit/>
          </a:bodyPr>
          <a:lstStyle/>
          <a:p>
            <a:endParaRPr lang="zh-CN" altLang="en-US" sz="1400" kern="0">
              <a:solidFill>
                <a:srgbClr val="10101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7" name="圆角矩形 19"/>
          <p:cNvSpPr/>
          <p:nvPr/>
        </p:nvSpPr>
        <p:spPr>
          <a:xfrm>
            <a:off x="1631401" y="1515110"/>
            <a:ext cx="4733852" cy="297180"/>
          </a:xfrm>
          <a:prstGeom prst="roundRect">
            <a:avLst>
              <a:gd name="adj" fmla="val 8057"/>
            </a:avLst>
          </a:prstGeom>
          <a:solidFill>
            <a:srgbClr val="0070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400" b="1" dirty="0" smtClean="0">
                <a:solidFill>
                  <a:prstClr val="white"/>
                </a:solidFill>
                <a:latin typeface="微软雅黑" charset="0"/>
                <a:ea typeface="微软雅黑" charset="0"/>
              </a:rPr>
              <a:t>客户声音</a:t>
            </a:r>
            <a:endParaRPr lang="zh-CN" altLang="en-US" sz="1400" b="1" dirty="0">
              <a:solidFill>
                <a:prstClr val="white"/>
              </a:solidFill>
              <a:latin typeface="微软雅黑" charset="0"/>
              <a:ea typeface="微软雅黑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640975" y="1845945"/>
            <a:ext cx="4668961" cy="901700"/>
            <a:chOff x="3789" y="4218"/>
            <a:chExt cx="8778" cy="1420"/>
          </a:xfrm>
        </p:grpSpPr>
        <p:sp>
          <p:nvSpPr>
            <p:cNvPr id="47" name="矩形 46"/>
            <p:cNvSpPr/>
            <p:nvPr/>
          </p:nvSpPr>
          <p:spPr>
            <a:xfrm>
              <a:off x="3789" y="4218"/>
              <a:ext cx="8778" cy="6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2B5BD7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36000" rIns="36000" bIns="36000" rtlCol="0" anchor="ctr">
              <a:noAutofit/>
            </a:bodyPr>
            <a:lstStyle/>
            <a:p>
              <a:pPr lvl="0"/>
              <a:r>
                <a:rPr lang="zh-CN" altLang="en-US" sz="1100" b="1" dirty="0" smtClean="0">
                  <a:solidFill>
                    <a:schemeClr val="accent1"/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（大模型幻觉）</a:t>
              </a:r>
              <a:r>
                <a:rPr lang="zh-CN" altLang="en-US" sz="1100" dirty="0" smtClean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模型我们买了，</a:t>
              </a:r>
              <a:r>
                <a:rPr lang="en-US" altLang="zh-CN" sz="1100" dirty="0" smtClean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Agent </a:t>
              </a:r>
              <a:r>
                <a:rPr lang="zh-CN" altLang="en-US" sz="1100" dirty="0" smtClean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我们搭了，但一上生产就胡说八道，还只是一个知识问答；</a:t>
              </a:r>
              <a:endParaRPr lang="en-US" altLang="zh-CN" sz="11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3789" y="4958"/>
              <a:ext cx="8778" cy="6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2B5BD7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36000" rIns="36000" bIns="36000" rtlCol="0" anchor="ctr">
              <a:noAutofit/>
            </a:bodyPr>
            <a:lstStyle/>
            <a:p>
              <a:pPr lvl="0"/>
              <a:r>
                <a:rPr lang="zh-CN" altLang="en-US" sz="1100" b="1" dirty="0">
                  <a:solidFill>
                    <a:schemeClr val="accent1"/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（</a:t>
              </a:r>
              <a:r>
                <a:rPr lang="en-US" altLang="zh-CN" sz="1100" b="1" dirty="0">
                  <a:solidFill>
                    <a:schemeClr val="accent1"/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Agent</a:t>
              </a:r>
              <a:r>
                <a:rPr lang="zh-CN" altLang="en-US" sz="1100" b="1" dirty="0">
                  <a:solidFill>
                    <a:schemeClr val="accent1"/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用数）</a:t>
              </a:r>
              <a:r>
                <a:rPr lang="en-US" altLang="zh-CN" sz="1100" dirty="0" smtClean="0">
                  <a:solidFill>
                    <a:schemeClr val="tx1"/>
                  </a:solidFill>
                  <a:latin typeface="微软雅黑" charset="0"/>
                  <a:ea typeface="微软雅黑" charset="0"/>
                  <a:sym typeface="+mn-ea"/>
                </a:rPr>
                <a:t>AI</a:t>
              </a:r>
              <a:r>
                <a:rPr lang="zh-CN" altLang="en-US" sz="1100" dirty="0">
                  <a:solidFill>
                    <a:schemeClr val="tx1"/>
                  </a:solidFill>
                  <a:latin typeface="微软雅黑" charset="0"/>
                  <a:ea typeface="微软雅黑" charset="0"/>
                  <a:sym typeface="+mn-ea"/>
                </a:rPr>
                <a:t>不懂业务，只会机械查</a:t>
              </a:r>
              <a:r>
                <a:rPr lang="zh-CN" altLang="en-US" sz="1100" dirty="0" smtClean="0">
                  <a:solidFill>
                    <a:schemeClr val="tx1"/>
                  </a:solidFill>
                  <a:latin typeface="微软雅黑" charset="0"/>
                  <a:ea typeface="微软雅黑" charset="0"/>
                  <a:sym typeface="+mn-ea"/>
                </a:rPr>
                <a:t>数，</a:t>
              </a:r>
              <a:r>
                <a:rPr lang="zh-CN" altLang="en-US" sz="1100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无法在企业内部客户需要能力执行</a:t>
              </a:r>
              <a:r>
                <a:rPr lang="zh-CN" altLang="en-US" sz="1100" dirty="0" smtClean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闭环；</a:t>
              </a:r>
              <a:endParaRPr lang="en-US" sz="1100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endParaRPr>
            </a:p>
          </p:txBody>
        </p:sp>
      </p:grpSp>
      <p:sp>
        <p:nvSpPr>
          <p:cNvPr id="52" name="圆角矩形 51"/>
          <p:cNvSpPr/>
          <p:nvPr/>
        </p:nvSpPr>
        <p:spPr>
          <a:xfrm>
            <a:off x="1428750" y="3737476"/>
            <a:ext cx="5057775" cy="1130535"/>
          </a:xfrm>
          <a:prstGeom prst="roundRect">
            <a:avLst>
              <a:gd name="adj" fmla="val 2064"/>
            </a:avLst>
          </a:prstGeom>
          <a:solidFill>
            <a:srgbClr val="2B5BD7">
              <a:alpha val="8000"/>
            </a:srgbClr>
          </a:solidFill>
          <a:ln w="6350">
            <a:solidFill>
              <a:srgbClr val="2B5B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ctr">
            <a:noAutofit/>
          </a:bodyPr>
          <a:lstStyle/>
          <a:p>
            <a:endParaRPr lang="zh-CN" altLang="en-US" sz="1400" kern="0">
              <a:solidFill>
                <a:srgbClr val="10101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4" name="圆角矩形 19"/>
          <p:cNvSpPr/>
          <p:nvPr/>
        </p:nvSpPr>
        <p:spPr>
          <a:xfrm>
            <a:off x="1631401" y="3560311"/>
            <a:ext cx="4733852" cy="297180"/>
          </a:xfrm>
          <a:prstGeom prst="roundRect">
            <a:avLst>
              <a:gd name="adj" fmla="val 8057"/>
            </a:avLst>
          </a:prstGeom>
          <a:solidFill>
            <a:srgbClr val="0070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400" b="1" dirty="0" smtClean="0">
                <a:solidFill>
                  <a:prstClr val="white"/>
                </a:solidFill>
                <a:latin typeface="微软雅黑" charset="0"/>
                <a:ea typeface="微软雅黑" charset="0"/>
              </a:rPr>
              <a:t>行业趋势</a:t>
            </a:r>
            <a:endParaRPr lang="zh-CN" altLang="en-US" sz="1400" b="1" dirty="0">
              <a:solidFill>
                <a:prstClr val="whit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640742" y="3882458"/>
            <a:ext cx="4668961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2B5B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36000" rIns="36000" bIns="36000" rtlCol="0" anchor="ctr">
            <a:noAutofit/>
          </a:bodyPr>
          <a:lstStyle/>
          <a:p>
            <a:pPr lvl="0"/>
            <a:r>
              <a:rPr lang="zh-CN" altLang="en-US" sz="1100" b="1" dirty="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（智能数据治理）</a:t>
            </a:r>
            <a:r>
              <a:rPr lang="zh-CN" altLang="en-US" sz="1100" dirty="0" smtClean="0">
                <a:solidFill>
                  <a:schemeClr val="bg2">
                    <a:lumMod val="2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数据治理工作在从</a:t>
            </a: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“人治”向“智治”的治理</a:t>
            </a:r>
            <a:r>
              <a:rPr lang="zh-CN" altLang="en-US" sz="1100" dirty="0" smtClean="0">
                <a:solidFill>
                  <a:schemeClr val="bg2">
                    <a:lumMod val="2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范式进行跃迁；</a:t>
            </a:r>
            <a:endParaRPr lang="en-US" altLang="zh-CN" sz="1100" dirty="0">
              <a:solidFill>
                <a:schemeClr val="bg2">
                  <a:lumMod val="25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1428750" y="5268528"/>
            <a:ext cx="5057775" cy="1248410"/>
          </a:xfrm>
          <a:prstGeom prst="roundRect">
            <a:avLst>
              <a:gd name="adj" fmla="val 2064"/>
            </a:avLst>
          </a:prstGeom>
          <a:solidFill>
            <a:srgbClr val="2B5BD7">
              <a:alpha val="8000"/>
            </a:srgbClr>
          </a:solidFill>
          <a:ln w="6350">
            <a:solidFill>
              <a:srgbClr val="2B5B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ctr">
            <a:noAutofit/>
          </a:bodyPr>
          <a:lstStyle/>
          <a:p>
            <a:endParaRPr lang="zh-CN" altLang="en-US" sz="1400" kern="0">
              <a:solidFill>
                <a:srgbClr val="10101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2" name="圆角矩形 19"/>
          <p:cNvSpPr/>
          <p:nvPr/>
        </p:nvSpPr>
        <p:spPr>
          <a:xfrm>
            <a:off x="1631401" y="5091362"/>
            <a:ext cx="4733852" cy="297180"/>
          </a:xfrm>
          <a:prstGeom prst="roundRect">
            <a:avLst>
              <a:gd name="adj" fmla="val 8057"/>
            </a:avLst>
          </a:prstGeom>
          <a:solidFill>
            <a:srgbClr val="0070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400" b="1" dirty="0" smtClean="0">
                <a:solidFill>
                  <a:prstClr val="white"/>
                </a:solidFill>
                <a:latin typeface="微软雅黑" charset="0"/>
                <a:ea typeface="微软雅黑" charset="0"/>
              </a:rPr>
              <a:t>技术发展</a:t>
            </a:r>
            <a:endParaRPr lang="zh-CN" altLang="en-US" sz="1400" b="1" dirty="0">
              <a:solidFill>
                <a:prstClr val="white"/>
              </a:solidFill>
              <a:latin typeface="微软雅黑" charset="0"/>
              <a:ea typeface="微软雅黑" charset="0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1631401" y="5419657"/>
            <a:ext cx="4674280" cy="934085"/>
            <a:chOff x="3771" y="4214"/>
            <a:chExt cx="8788" cy="1471"/>
          </a:xfrm>
        </p:grpSpPr>
        <p:sp>
          <p:nvSpPr>
            <p:cNvPr id="75" name="矩形 74"/>
            <p:cNvSpPr/>
            <p:nvPr/>
          </p:nvSpPr>
          <p:spPr>
            <a:xfrm>
              <a:off x="3771" y="4214"/>
              <a:ext cx="8778" cy="6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2B5BD7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36000" rIns="36000" bIns="36000" rtlCol="0" anchor="ctr">
              <a:noAutofit/>
            </a:bodyPr>
            <a:lstStyle/>
            <a:p>
              <a:pPr lvl="0"/>
              <a:r>
                <a:rPr lang="zh-CN" altLang="en-US" sz="1100" b="1" dirty="0">
                  <a:solidFill>
                    <a:schemeClr val="accent1"/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（</a:t>
              </a:r>
              <a:r>
                <a:rPr lang="en-US" altLang="zh-CN" sz="1100" b="1" dirty="0">
                  <a:solidFill>
                    <a:schemeClr val="accent1"/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Agent</a:t>
              </a:r>
              <a:r>
                <a:rPr lang="zh-CN" altLang="en-US" sz="1100" b="1" dirty="0">
                  <a:solidFill>
                    <a:schemeClr val="accent1"/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用数） </a:t>
              </a:r>
              <a:r>
                <a:rPr lang="en-US" altLang="zh-CN" sz="1100" dirty="0" smtClean="0">
                  <a:solidFill>
                    <a:schemeClr val="bg2">
                      <a:lumMod val="2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AI </a:t>
              </a:r>
              <a:r>
                <a:rPr lang="en-US" altLang="zh-CN" sz="1100" dirty="0">
                  <a:solidFill>
                    <a:schemeClr val="bg2">
                      <a:lumMod val="2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Agent </a:t>
              </a:r>
              <a:r>
                <a:rPr lang="zh-CN" altLang="en-US" sz="1100" dirty="0">
                  <a:solidFill>
                    <a:schemeClr val="bg2">
                      <a:lumMod val="2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对数据的</a:t>
              </a:r>
              <a:r>
                <a:rPr lang="zh-CN" altLang="en-US" sz="1100" dirty="0" smtClean="0">
                  <a:solidFill>
                    <a:schemeClr val="bg2">
                      <a:lumMod val="2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需求应运而生，过去 </a:t>
              </a:r>
              <a:r>
                <a:rPr lang="en-US" altLang="zh-CN" sz="1100" dirty="0">
                  <a:solidFill>
                    <a:schemeClr val="bg2">
                      <a:lumMod val="2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BI/</a:t>
              </a:r>
              <a:r>
                <a:rPr lang="zh-CN" altLang="en-US" sz="1100" dirty="0">
                  <a:solidFill>
                    <a:schemeClr val="bg2">
                      <a:lumMod val="2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分析对数据</a:t>
              </a:r>
              <a:r>
                <a:rPr lang="zh-CN" altLang="en-US" sz="1100" dirty="0" smtClean="0">
                  <a:solidFill>
                    <a:schemeClr val="bg2">
                      <a:lumMod val="2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的技术方式已跟不上时代；</a:t>
              </a:r>
              <a:endParaRPr lang="zh-CN" altLang="en-US" sz="1100" dirty="0">
                <a:solidFill>
                  <a:schemeClr val="bg2">
                    <a:lumMod val="2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3781" y="5005"/>
              <a:ext cx="8778" cy="6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2B5BD7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36000" rIns="36000" bIns="36000" rtlCol="0" anchor="ctr">
              <a:noAutofit/>
            </a:bodyPr>
            <a:lstStyle/>
            <a:p>
              <a:pPr lvl="0"/>
              <a:r>
                <a:rPr lang="zh-CN" altLang="en-US" sz="1100" b="1" dirty="0">
                  <a:solidFill>
                    <a:schemeClr val="accent1"/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（本体技术）</a:t>
              </a:r>
              <a:r>
                <a:rPr lang="zh-CN" altLang="en-US" sz="1100" dirty="0" smtClean="0">
                  <a:solidFill>
                    <a:schemeClr val="bg2">
                      <a:lumMod val="25000"/>
                    </a:schemeClr>
                  </a:solidFill>
                  <a:latin typeface="微软雅黑" charset="0"/>
                  <a:ea typeface="微软雅黑" charset="0"/>
                  <a:sym typeface="+mn-ea"/>
                </a:rPr>
                <a:t>国内外</a:t>
              </a:r>
              <a:r>
                <a:rPr lang="zh-CN" altLang="en-US" sz="1100" dirty="0">
                  <a:solidFill>
                    <a:schemeClr val="bg2">
                      <a:lumMod val="25000"/>
                    </a:schemeClr>
                  </a:solidFill>
                  <a:latin typeface="微软雅黑" charset="0"/>
                  <a:ea typeface="微软雅黑" charset="0"/>
                  <a:sym typeface="+mn-ea"/>
                </a:rPr>
                <a:t>企业（如</a:t>
              </a:r>
              <a:r>
                <a:rPr lang="en-US" altLang="zh-CN" sz="1100" dirty="0" err="1">
                  <a:solidFill>
                    <a:schemeClr val="bg2">
                      <a:lumMod val="25000"/>
                    </a:schemeClr>
                  </a:solidFill>
                  <a:latin typeface="微软雅黑" charset="0"/>
                  <a:ea typeface="微软雅黑" charset="0"/>
                  <a:sym typeface="+mn-ea"/>
                </a:rPr>
                <a:t>palantir</a:t>
              </a:r>
              <a:r>
                <a:rPr lang="zh-CN" altLang="en-US" sz="1100" dirty="0" err="1">
                  <a:solidFill>
                    <a:schemeClr val="bg2">
                      <a:lumMod val="25000"/>
                    </a:schemeClr>
                  </a:solidFill>
                  <a:latin typeface="微软雅黑" charset="0"/>
                  <a:ea typeface="微软雅黑" charset="0"/>
                  <a:sym typeface="+mn-ea"/>
                </a:rPr>
                <a:t>、金蝶、华为等</a:t>
              </a:r>
              <a:r>
                <a:rPr lang="en-US" altLang="zh-CN" sz="1100" dirty="0">
                  <a:solidFill>
                    <a:schemeClr val="bg2">
                      <a:lumMod val="25000"/>
                    </a:schemeClr>
                  </a:solidFill>
                  <a:latin typeface="微软雅黑" charset="0"/>
                  <a:ea typeface="微软雅黑" charset="0"/>
                  <a:sym typeface="+mn-ea"/>
                </a:rPr>
                <a:t> </a:t>
              </a:r>
              <a:r>
                <a:rPr lang="zh-CN" altLang="en-US" sz="1100" dirty="0">
                  <a:solidFill>
                    <a:schemeClr val="bg2">
                      <a:lumMod val="25000"/>
                    </a:schemeClr>
                  </a:solidFill>
                  <a:latin typeface="微软雅黑" charset="0"/>
                  <a:ea typeface="微软雅黑" charset="0"/>
                  <a:sym typeface="+mn-ea"/>
                </a:rPr>
                <a:t>）都在进行本体技术来升级当前的数据技术体系。</a:t>
              </a:r>
            </a:p>
          </p:txBody>
        </p:sp>
      </p:grpSp>
      <p:pic>
        <p:nvPicPr>
          <p:cNvPr id="80" name="图片 7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185" y="4031011"/>
            <a:ext cx="426694" cy="598908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188" y="1830070"/>
            <a:ext cx="592065" cy="4568548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7199642" y="1510028"/>
            <a:ext cx="1980108" cy="5074209"/>
            <a:chOff x="7854950" y="1429785"/>
            <a:chExt cx="2763168" cy="5074209"/>
          </a:xfrm>
        </p:grpSpPr>
        <p:sp>
          <p:nvSpPr>
            <p:cNvPr id="83" name="圆角矩形 82"/>
            <p:cNvSpPr/>
            <p:nvPr/>
          </p:nvSpPr>
          <p:spPr>
            <a:xfrm>
              <a:off x="7854950" y="1609531"/>
              <a:ext cx="2763168" cy="4894463"/>
            </a:xfrm>
            <a:prstGeom prst="roundRect">
              <a:avLst>
                <a:gd name="adj" fmla="val 3089"/>
              </a:avLst>
            </a:prstGeom>
            <a:solidFill>
              <a:srgbClr val="2B5BD7">
                <a:alpha val="8000"/>
              </a:srgbClr>
            </a:solidFill>
            <a:ln w="6350">
              <a:solidFill>
                <a:srgbClr val="2B5BD7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180000" tIns="180000" rIns="180000" bIns="180000" numCol="1" spcCol="0" rtlCol="0" fromWordArt="0" anchor="ctr" anchorCtr="0" forceAA="0" compatLnSpc="1">
              <a:noAutofit/>
            </a:bodyPr>
            <a:lstStyle/>
            <a:p>
              <a:pPr lvl="0" algn="l"/>
              <a:endParaRPr lang="zh-CN" altLang="en-US" sz="1400" kern="0">
                <a:solidFill>
                  <a:srgbClr val="101010"/>
                </a:solidFill>
                <a:latin typeface="微软雅黑" charset="0"/>
                <a:ea typeface="微软雅黑" charset="0"/>
                <a:sym typeface="+mn-ea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7914587" y="1861439"/>
              <a:ext cx="2632710" cy="11131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2B5BD7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180000" tIns="36000" rIns="36000" bIns="36000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1400" b="1" dirty="0" smtClean="0">
                  <a:solidFill>
                    <a:schemeClr val="accent1"/>
                  </a:solidFill>
                  <a:latin typeface="微软雅黑" charset="0"/>
                  <a:ea typeface="微软雅黑" charset="0"/>
                  <a:sym typeface="+mn-ea"/>
                </a:rPr>
                <a:t>三位一体的要求</a:t>
              </a:r>
              <a:endParaRPr lang="zh-CN" altLang="en-US" sz="1400" b="1" dirty="0">
                <a:solidFill>
                  <a:schemeClr val="accent1"/>
                </a:solidFill>
                <a:latin typeface="微软雅黑" charset="0"/>
                <a:ea typeface="微软雅黑" charset="0"/>
                <a:sym typeface="+mn-ea"/>
              </a:endParaRPr>
            </a:p>
            <a:p>
              <a:pPr lvl="0" algn="l">
                <a:buClrTx/>
                <a:buSzTx/>
                <a:buFontTx/>
              </a:pPr>
              <a:r>
                <a:rPr lang="zh-CN" altLang="en-US" sz="1400" b="1" dirty="0">
                  <a:solidFill>
                    <a:schemeClr val="accent1"/>
                  </a:solidFill>
                  <a:latin typeface="微软雅黑" charset="0"/>
                  <a:ea typeface="微软雅黑" charset="0"/>
                  <a:sym typeface="+mn-ea"/>
                </a:rPr>
                <a:t> </a:t>
              </a:r>
              <a:r>
                <a:rPr lang="en-US" altLang="zh-CN" sz="1400" b="1" dirty="0">
                  <a:solidFill>
                    <a:schemeClr val="accent1"/>
                  </a:solidFill>
                  <a:latin typeface="微软雅黑" charset="0"/>
                  <a:ea typeface="微软雅黑" charset="0"/>
                  <a:sym typeface="+mn-ea"/>
                </a:rPr>
                <a:t>     </a:t>
              </a:r>
              <a:r>
                <a:rPr lang="zh-CN" altLang="en-US" sz="1200" dirty="0" smtClean="0">
                  <a:solidFill>
                    <a:schemeClr val="accent1"/>
                  </a:solidFill>
                  <a:latin typeface="微软雅黑" charset="0"/>
                  <a:ea typeface="微软雅黑" charset="0"/>
                  <a:sym typeface="+mn-ea"/>
                </a:rPr>
                <a:t>业务和技术在数据、逻辑、行动分属三个世界，缺少一个统一基座将三者建模贯通。</a:t>
              </a:r>
              <a:endParaRPr lang="zh-CN" altLang="en-US" sz="1200" dirty="0">
                <a:solidFill>
                  <a:schemeClr val="accent1"/>
                </a:solidFill>
                <a:latin typeface="微软雅黑" charset="0"/>
                <a:ea typeface="微软雅黑" charset="0"/>
                <a:sym typeface="+mn-ea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7907237" y="4305937"/>
              <a:ext cx="2632710" cy="864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2B5BD7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180000" tIns="36000" rIns="36000" bIns="36000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1400" b="1" dirty="0">
                  <a:solidFill>
                    <a:schemeClr val="accent1"/>
                  </a:solidFill>
                  <a:latin typeface="微软雅黑" charset="0"/>
                  <a:ea typeface="微软雅黑" charset="0"/>
                  <a:sym typeface="+mn-ea"/>
                </a:rPr>
                <a:t>数据自治化要求</a:t>
              </a:r>
            </a:p>
            <a:p>
              <a:pPr lvl="0" algn="l">
                <a:buClrTx/>
                <a:buSzTx/>
                <a:buFontTx/>
              </a:pPr>
              <a:r>
                <a:rPr lang="zh-CN" altLang="en-US" sz="1400" b="1" dirty="0">
                  <a:solidFill>
                    <a:schemeClr val="accent1"/>
                  </a:solidFill>
                  <a:latin typeface="微软雅黑" charset="0"/>
                  <a:ea typeface="微软雅黑" charset="0"/>
                  <a:sym typeface="+mn-ea"/>
                </a:rPr>
                <a:t> </a:t>
              </a:r>
              <a:r>
                <a:rPr lang="en-US" altLang="zh-CN" sz="1400" b="1" dirty="0">
                  <a:solidFill>
                    <a:schemeClr val="accent1"/>
                  </a:solidFill>
                  <a:latin typeface="微软雅黑" charset="0"/>
                  <a:ea typeface="微软雅黑" charset="0"/>
                  <a:sym typeface="+mn-ea"/>
                </a:rPr>
                <a:t>     </a:t>
              </a:r>
              <a:r>
                <a:rPr lang="zh-CN" altLang="en-US" sz="1200" dirty="0">
                  <a:solidFill>
                    <a:schemeClr val="accent1"/>
                  </a:solidFill>
                  <a:latin typeface="微软雅黑" charset="0"/>
                  <a:ea typeface="微软雅黑" charset="0"/>
                  <a:sym typeface="+mn-ea"/>
                </a:rPr>
                <a:t>数据治理依赖人工，迫切升级平台从“人治到“智治”。</a:t>
              </a:r>
            </a:p>
          </p:txBody>
        </p:sp>
        <p:sp>
          <p:nvSpPr>
            <p:cNvPr id="87" name="圆角矩形 19"/>
            <p:cNvSpPr/>
            <p:nvPr/>
          </p:nvSpPr>
          <p:spPr>
            <a:xfrm>
              <a:off x="8206051" y="1429785"/>
              <a:ext cx="2145030" cy="299720"/>
            </a:xfrm>
            <a:prstGeom prst="roundRect">
              <a:avLst>
                <a:gd name="adj" fmla="val 8057"/>
              </a:avLst>
            </a:prstGeom>
            <a:solidFill>
              <a:srgbClr val="0070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1400" b="1" dirty="0">
                  <a:solidFill>
                    <a:prstClr val="white"/>
                  </a:solidFill>
                  <a:latin typeface="微软雅黑" charset="0"/>
                  <a:ea typeface="微软雅黑" charset="0"/>
                  <a:sym typeface="+mn-ea"/>
                </a:rPr>
                <a:t>痛点总结</a:t>
              </a:r>
            </a:p>
          </p:txBody>
        </p:sp>
        <p:sp>
          <p:nvSpPr>
            <p:cNvPr id="88" name="矩形 87"/>
            <p:cNvSpPr/>
            <p:nvPr/>
          </p:nvSpPr>
          <p:spPr>
            <a:xfrm>
              <a:off x="7912926" y="3107057"/>
              <a:ext cx="2632710" cy="1040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2B5BD7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180000" tIns="36000" rIns="36000" bIns="36000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1400" b="1" dirty="0">
                  <a:solidFill>
                    <a:schemeClr val="accent1"/>
                  </a:solidFill>
                  <a:latin typeface="微软雅黑" charset="0"/>
                  <a:ea typeface="微软雅黑" charset="0"/>
                  <a:sym typeface="+mn-ea"/>
                </a:rPr>
                <a:t>数据安全性要求</a:t>
              </a:r>
            </a:p>
            <a:p>
              <a:pPr lvl="0" algn="l">
                <a:buClrTx/>
                <a:buSzTx/>
                <a:buFontTx/>
              </a:pPr>
              <a:r>
                <a:rPr lang="zh-CN" altLang="en-US" sz="1400" b="1" dirty="0">
                  <a:solidFill>
                    <a:schemeClr val="accent1"/>
                  </a:solidFill>
                  <a:latin typeface="微软雅黑" charset="0"/>
                  <a:ea typeface="微软雅黑" charset="0"/>
                  <a:sym typeface="+mn-ea"/>
                </a:rPr>
                <a:t> </a:t>
              </a:r>
              <a:r>
                <a:rPr lang="en-US" altLang="zh-CN" sz="1400" b="1" dirty="0">
                  <a:solidFill>
                    <a:schemeClr val="accent1"/>
                  </a:solidFill>
                  <a:latin typeface="微软雅黑" charset="0"/>
                  <a:ea typeface="微软雅黑" charset="0"/>
                  <a:sym typeface="+mn-ea"/>
                </a:rPr>
                <a:t>     </a:t>
              </a:r>
              <a:r>
                <a:rPr lang="zh-CN" altLang="en-US" sz="1200" dirty="0">
                  <a:solidFill>
                    <a:schemeClr val="accent1"/>
                  </a:solidFill>
                  <a:latin typeface="微软雅黑" charset="0"/>
                  <a:ea typeface="微软雅黑" charset="0"/>
                  <a:sym typeface="+mn-ea"/>
                </a:rPr>
                <a:t>大模型训练和推理，客户对企业</a:t>
              </a:r>
              <a:r>
                <a:rPr lang="en-US" altLang="zh-CN" sz="1200" dirty="0">
                  <a:solidFill>
                    <a:schemeClr val="accent1"/>
                  </a:solidFill>
                  <a:latin typeface="微软雅黑" charset="0"/>
                  <a:ea typeface="微软雅黑" charset="0"/>
                  <a:sym typeface="+mn-ea"/>
                </a:rPr>
                <a:t>/家庭</a:t>
              </a:r>
              <a:r>
                <a:rPr lang="zh-CN" altLang="en-US" sz="1200" dirty="0">
                  <a:solidFill>
                    <a:schemeClr val="accent1"/>
                  </a:solidFill>
                  <a:latin typeface="微软雅黑" charset="0"/>
                  <a:ea typeface="微软雅黑" charset="0"/>
                  <a:sym typeface="+mn-ea"/>
                </a:rPr>
                <a:t>数据的安全有更高要求。</a:t>
              </a:r>
            </a:p>
          </p:txBody>
        </p:sp>
        <p:sp>
          <p:nvSpPr>
            <p:cNvPr id="89" name="矩形 88"/>
            <p:cNvSpPr/>
            <p:nvPr>
              <p:custDataLst>
                <p:tags r:id="rId2"/>
              </p:custDataLst>
            </p:nvPr>
          </p:nvSpPr>
          <p:spPr>
            <a:xfrm>
              <a:off x="7906137" y="5328220"/>
              <a:ext cx="2632710" cy="102726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2B5BD7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180000" tIns="36000" rIns="36000" bIns="36000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1400" b="1" dirty="0">
                  <a:solidFill>
                    <a:schemeClr val="accent1"/>
                  </a:solidFill>
                  <a:latin typeface="微软雅黑" charset="0"/>
                  <a:ea typeface="微软雅黑" charset="0"/>
                  <a:sym typeface="+mn-ea"/>
                </a:rPr>
                <a:t>数据多样性要求</a:t>
              </a:r>
            </a:p>
            <a:p>
              <a:pPr lvl="0" algn="l">
                <a:buClrTx/>
                <a:buSzTx/>
                <a:buFontTx/>
              </a:pPr>
              <a:r>
                <a:rPr lang="zh-CN" altLang="en-US" sz="1400" b="1" dirty="0">
                  <a:solidFill>
                    <a:schemeClr val="accent1"/>
                  </a:solidFill>
                  <a:latin typeface="微软雅黑" charset="0"/>
                  <a:ea typeface="微软雅黑" charset="0"/>
                  <a:sym typeface="+mn-ea"/>
                </a:rPr>
                <a:t> </a:t>
              </a:r>
              <a:r>
                <a:rPr lang="en-US" altLang="zh-CN" sz="1400" b="1" dirty="0">
                  <a:solidFill>
                    <a:schemeClr val="accent1"/>
                  </a:solidFill>
                  <a:latin typeface="微软雅黑" charset="0"/>
                  <a:ea typeface="微软雅黑" charset="0"/>
                  <a:sym typeface="+mn-ea"/>
                </a:rPr>
                <a:t>     </a:t>
              </a:r>
              <a:r>
                <a:rPr lang="zh-CN" altLang="en-US" sz="1200" dirty="0">
                  <a:solidFill>
                    <a:schemeClr val="accent1"/>
                  </a:solidFill>
                  <a:latin typeface="微软雅黑" charset="0"/>
                  <a:ea typeface="微软雅黑" charset="0"/>
                  <a:sym typeface="+mn-ea"/>
                </a:rPr>
                <a:t>只有业务和物联数据，缺乏文档等专业知识型数据，不能支撑模型的训练推理。</a:t>
              </a:r>
            </a:p>
          </p:txBody>
        </p:sp>
      </p:grpSp>
      <p:sp>
        <p:nvSpPr>
          <p:cNvPr id="90" name="矩形 89"/>
          <p:cNvSpPr/>
          <p:nvPr/>
        </p:nvSpPr>
        <p:spPr>
          <a:xfrm>
            <a:off x="1640974" y="2783840"/>
            <a:ext cx="4668961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2B5B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36000" rIns="36000" bIns="36000" rtlCol="0" anchor="ctr">
            <a:noAutofit/>
          </a:bodyPr>
          <a:lstStyle/>
          <a:p>
            <a:pPr lvl="0"/>
            <a:r>
              <a:rPr lang="zh-CN" altLang="en-US" sz="1100" b="1" dirty="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（</a:t>
            </a:r>
            <a:r>
              <a:rPr lang="zh-CN" altLang="en-US" sz="1100" b="1" dirty="0" smtClean="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数据安全性）</a:t>
            </a:r>
            <a:r>
              <a:rPr lang="zh-CN" altLang="en-US" sz="1100" dirty="0" smtClean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构建的</a:t>
            </a:r>
            <a:r>
              <a:rPr lang="en-US" altLang="zh-CN" sz="1100" dirty="0" smtClean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Agent</a:t>
            </a:r>
            <a:r>
              <a:rPr lang="zh-CN" altLang="en-US" sz="1100" dirty="0" smtClean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在运行时，经常出现隐私</a:t>
            </a:r>
            <a:r>
              <a:rPr lang="zh-CN" altLang="en-US" sz="1100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泄露与合规</a:t>
            </a:r>
            <a:r>
              <a:rPr lang="zh-CN" altLang="en-US" sz="1100" dirty="0" smtClean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风险问题；</a:t>
            </a:r>
            <a:endParaRPr lang="en-US" sz="1100" dirty="0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1637024" y="4362033"/>
            <a:ext cx="4668961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2B5B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36000" rIns="36000" bIns="36000" rtlCol="0" anchor="ctr">
            <a:noAutofit/>
          </a:bodyPr>
          <a:lstStyle/>
          <a:p>
            <a:pPr lvl="0"/>
            <a:r>
              <a:rPr lang="zh-CN" altLang="en-US" sz="1100" b="1" dirty="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（多模数据融合） </a:t>
            </a:r>
            <a:r>
              <a:rPr lang="zh-CN" altLang="en-US" sz="1100" dirty="0" smtClean="0">
                <a:solidFill>
                  <a:schemeClr val="bg2">
                    <a:lumMod val="2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结构化一套体系、非结构化另一套体系，两份数据两套玩法，上层想统一用，底下就是接不住；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9804933" y="1427480"/>
            <a:ext cx="2234667" cy="5177790"/>
            <a:chOff x="15441" y="2248"/>
            <a:chExt cx="3519" cy="8154"/>
          </a:xfrm>
        </p:grpSpPr>
        <p:grpSp>
          <p:nvGrpSpPr>
            <p:cNvPr id="4" name="组合 3"/>
            <p:cNvGrpSpPr/>
            <p:nvPr/>
          </p:nvGrpSpPr>
          <p:grpSpPr>
            <a:xfrm>
              <a:off x="15441" y="2248"/>
              <a:ext cx="3519" cy="8154"/>
              <a:chOff x="9013239" y="1427480"/>
              <a:chExt cx="2931111" cy="5177790"/>
            </a:xfrm>
          </p:grpSpPr>
          <p:sp>
            <p:nvSpPr>
              <p:cNvPr id="58" name="圆角矩形 57"/>
              <p:cNvSpPr/>
              <p:nvPr/>
            </p:nvSpPr>
            <p:spPr>
              <a:xfrm>
                <a:off x="9013239" y="1611630"/>
                <a:ext cx="2931111" cy="4993640"/>
              </a:xfrm>
              <a:prstGeom prst="roundRect">
                <a:avLst>
                  <a:gd name="adj" fmla="val 3089"/>
                </a:avLst>
              </a:prstGeom>
              <a:solidFill>
                <a:srgbClr val="2B5BD7">
                  <a:alpha val="8000"/>
                </a:srgbClr>
              </a:solidFill>
              <a:ln w="6350">
                <a:solidFill>
                  <a:srgbClr val="2B5BD7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180000" tIns="180000" rIns="180000" bIns="180000" numCol="1" spcCol="0" rtlCol="0" fromWordArt="0" anchor="ctr" anchorCtr="0" forceAA="0" compatLnSpc="1">
                <a:noAutofit/>
              </a:bodyPr>
              <a:lstStyle/>
              <a:p>
                <a:pPr lvl="0" algn="l"/>
                <a:endParaRPr lang="zh-CN" altLang="en-US" sz="1400" kern="0">
                  <a:solidFill>
                    <a:srgbClr val="101010"/>
                  </a:solidFill>
                  <a:latin typeface="微软雅黑" charset="-122"/>
                  <a:ea typeface="微软雅黑" charset="-122"/>
                  <a:sym typeface="+mn-ea"/>
                </a:endParaRPr>
              </a:p>
            </p:txBody>
          </p:sp>
          <p:sp>
            <p:nvSpPr>
              <p:cNvPr id="60" name="矩形 59"/>
              <p:cNvSpPr/>
              <p:nvPr/>
            </p:nvSpPr>
            <p:spPr>
              <a:xfrm>
                <a:off x="9190647" y="2037080"/>
                <a:ext cx="2596984" cy="958850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>
                  <a:defRPr/>
                </a:pPr>
                <a:r>
                  <a:rPr lang="zh-CN" altLang="en-US" sz="1300" b="1" dirty="0" smtClean="0">
                    <a:latin typeface="微软雅黑" charset="0"/>
                    <a:ea typeface="微软雅黑" charset="0"/>
                    <a:sym typeface="+mn-ea"/>
                  </a:rPr>
                  <a:t>本体贯通技术</a:t>
                </a:r>
              </a:p>
              <a:p>
                <a:pPr lvl="0">
                  <a:defRPr/>
                </a:pPr>
                <a:r>
                  <a:rPr lang="en-US" altLang="zh-CN" sz="1200" dirty="0" smtClean="0">
                    <a:latin typeface="微软雅黑" charset="0"/>
                    <a:ea typeface="微软雅黑" charset="0"/>
                    <a:sym typeface="+mn-ea"/>
                  </a:rPr>
                  <a:t>     </a:t>
                </a:r>
                <a:r>
                  <a:rPr lang="zh-CN" altLang="en-US" sz="1200" dirty="0" smtClean="0">
                    <a:latin typeface="微软雅黑" charset="0"/>
                    <a:ea typeface="微软雅黑" charset="0"/>
                    <a:sym typeface="+mn-ea"/>
                  </a:rPr>
                  <a:t>贯通数据语义层与业务执行层，统一数据、逻辑、执行的建模与联动。</a:t>
                </a:r>
              </a:p>
            </p:txBody>
          </p:sp>
          <p:sp>
            <p:nvSpPr>
              <p:cNvPr id="62" name="矩形 61"/>
              <p:cNvSpPr/>
              <p:nvPr/>
            </p:nvSpPr>
            <p:spPr>
              <a:xfrm>
                <a:off x="9190647" y="3202940"/>
                <a:ext cx="2596984" cy="958215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>
                  <a:defRPr/>
                </a:pPr>
                <a:r>
                  <a:rPr lang="zh-CN" altLang="en-US" sz="1300" b="1" dirty="0" smtClean="0">
                    <a:latin typeface="微软雅黑" charset="0"/>
                    <a:ea typeface="微软雅黑" charset="0"/>
                    <a:sym typeface="+mn-ea"/>
                  </a:rPr>
                  <a:t>本体语义安全防护技术</a:t>
                </a:r>
                <a:r>
                  <a:rPr lang="en-US" altLang="zh-CN" sz="1200" dirty="0" smtClean="0">
                    <a:latin typeface="微软雅黑" charset="0"/>
                    <a:ea typeface="微软雅黑" charset="0"/>
                    <a:sym typeface="+mn-ea"/>
                  </a:rPr>
                  <a:t>        </a:t>
                </a:r>
              </a:p>
              <a:p>
                <a:pPr lvl="0">
                  <a:defRPr/>
                </a:pPr>
                <a:r>
                  <a:rPr lang="en-US" altLang="zh-CN" sz="1200" dirty="0" smtClean="0">
                    <a:latin typeface="微软雅黑" charset="0"/>
                    <a:ea typeface="微软雅黑" charset="0"/>
                    <a:sym typeface="+mn-ea"/>
                  </a:rPr>
                  <a:t>      </a:t>
                </a:r>
                <a:r>
                  <a:rPr lang="zh-CN" altLang="en-US" sz="1200" dirty="0" smtClean="0">
                    <a:latin typeface="微软雅黑" charset="0"/>
                    <a:ea typeface="微软雅黑" charset="0"/>
                    <a:sym typeface="+mn-ea"/>
                  </a:rPr>
                  <a:t>在语义边界管控</a:t>
                </a:r>
                <a:r>
                  <a:rPr lang="en-US" altLang="zh-CN" sz="1200" dirty="0" smtClean="0">
                    <a:latin typeface="微软雅黑" charset="0"/>
                    <a:ea typeface="微软雅黑" charset="0"/>
                    <a:sym typeface="+mn-ea"/>
                  </a:rPr>
                  <a:t>LLM</a:t>
                </a:r>
                <a:r>
                  <a:rPr lang="zh-CN" altLang="en-US" sz="1200" dirty="0" smtClean="0">
                    <a:latin typeface="微软雅黑" charset="0"/>
                    <a:ea typeface="微软雅黑" charset="0"/>
                    <a:sym typeface="+mn-ea"/>
                  </a:rPr>
                  <a:t>可访问域，守住数据安全底线。</a:t>
                </a:r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9190647" y="4368165"/>
                <a:ext cx="2596984" cy="958215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>
                  <a:defRPr/>
                </a:pPr>
                <a:r>
                  <a:rPr lang="en-US" altLang="zh-CN" sz="1300" b="1" dirty="0" smtClean="0">
                    <a:latin typeface="微软雅黑" charset="0"/>
                    <a:ea typeface="微软雅黑" charset="0"/>
                    <a:sym typeface="+mn-ea"/>
                  </a:rPr>
                  <a:t>AI</a:t>
                </a:r>
                <a:r>
                  <a:rPr lang="zh-CN" altLang="en-US" sz="1300" b="1" dirty="0" smtClean="0">
                    <a:latin typeface="微软雅黑" charset="0"/>
                    <a:ea typeface="微软雅黑" charset="0"/>
                    <a:sym typeface="+mn-ea"/>
                  </a:rPr>
                  <a:t>原生数据工厂技术</a:t>
                </a:r>
              </a:p>
              <a:p>
                <a:pPr lvl="0">
                  <a:defRPr/>
                </a:pPr>
                <a:r>
                  <a:rPr lang="en-US" altLang="zh-CN" sz="1200" dirty="0" smtClean="0">
                    <a:latin typeface="微软雅黑" charset="0"/>
                    <a:ea typeface="微软雅黑" charset="0"/>
                    <a:sym typeface="+mn-ea"/>
                  </a:rPr>
                  <a:t>      </a:t>
                </a:r>
                <a:r>
                  <a:rPr lang="zh-CN" altLang="en-US" sz="1200" dirty="0" smtClean="0">
                    <a:latin typeface="微软雅黑" charset="0"/>
                    <a:ea typeface="微软雅黑" charset="0"/>
                    <a:sym typeface="+mn-ea"/>
                  </a:rPr>
                  <a:t>以 </a:t>
                </a:r>
                <a:r>
                  <a:rPr lang="en-US" altLang="zh-CN" sz="1200" dirty="0" smtClean="0">
                    <a:latin typeface="微软雅黑" charset="0"/>
                    <a:ea typeface="微软雅黑" charset="0"/>
                    <a:sym typeface="+mn-ea"/>
                  </a:rPr>
                  <a:t>Agent </a:t>
                </a:r>
                <a:r>
                  <a:rPr lang="zh-CN" altLang="en-US" sz="1200" dirty="0" smtClean="0">
                    <a:latin typeface="微软雅黑" charset="0"/>
                    <a:ea typeface="微软雅黑" charset="0"/>
                    <a:sym typeface="+mn-ea"/>
                  </a:rPr>
                  <a:t>驱动数据生产全链路，从手工开发走向智能制造。</a:t>
                </a:r>
                <a:endParaRPr lang="zh-CN" altLang="en-US" sz="1200" dirty="0">
                  <a:latin typeface="微软雅黑" charset="0"/>
                  <a:ea typeface="微软雅黑" charset="0"/>
                  <a:sym typeface="+mn-ea"/>
                </a:endParaRPr>
              </a:p>
            </p:txBody>
          </p:sp>
          <p:sp>
            <p:nvSpPr>
              <p:cNvPr id="67" name="圆角矩形 19"/>
              <p:cNvSpPr/>
              <p:nvPr/>
            </p:nvSpPr>
            <p:spPr>
              <a:xfrm>
                <a:off x="9118003" y="1427480"/>
                <a:ext cx="2693670" cy="402590"/>
              </a:xfrm>
              <a:prstGeom prst="roundRect">
                <a:avLst>
                  <a:gd name="adj" fmla="val 8057"/>
                </a:avLst>
              </a:prstGeom>
              <a:solidFill>
                <a:srgbClr val="2B5BD7"/>
              </a:solidFill>
              <a:ln>
                <a:solidFill>
                  <a:srgbClr val="2B5BD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defRPr/>
                </a:pPr>
                <a:r>
                  <a:rPr lang="zh-CN" altLang="en-US" sz="1600" b="1" dirty="0">
                    <a:solidFill>
                      <a:prstClr val="white"/>
                    </a:solidFill>
                    <a:latin typeface="微软雅黑" charset="-122"/>
                    <a:ea typeface="微软雅黑" charset="-122"/>
                  </a:rPr>
                  <a:t>关键技术重构与跃迁</a:t>
                </a:r>
              </a:p>
            </p:txBody>
          </p:sp>
        </p:grpSp>
        <p:sp>
          <p:nvSpPr>
            <p:cNvPr id="2" name="矩形 1"/>
            <p:cNvSpPr/>
            <p:nvPr/>
          </p:nvSpPr>
          <p:spPr>
            <a:xfrm>
              <a:off x="15654" y="8714"/>
              <a:ext cx="3118" cy="151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>
                <a:defRPr/>
              </a:pPr>
              <a:r>
                <a:rPr lang="zh-CN" altLang="en-US" sz="1300" b="1" dirty="0">
                  <a:latin typeface="微软雅黑" charset="0"/>
                  <a:ea typeface="微软雅黑" charset="0"/>
                  <a:sym typeface="+mn-ea"/>
                </a:rPr>
                <a:t>多模数据融合处理技术</a:t>
              </a:r>
            </a:p>
            <a:p>
              <a:pPr lvl="0">
                <a:defRPr/>
              </a:pPr>
              <a:r>
                <a:rPr lang="en-US" altLang="zh-CN" sz="1200" dirty="0" smtClean="0">
                  <a:latin typeface="微软雅黑" charset="0"/>
                  <a:ea typeface="微软雅黑" charset="0"/>
                  <a:sym typeface="+mn-ea"/>
                </a:rPr>
                <a:t>      </a:t>
              </a:r>
              <a:r>
                <a:rPr lang="zh-CN" altLang="en-US" sz="1200" dirty="0" smtClean="0">
                  <a:latin typeface="微软雅黑" charset="0"/>
                  <a:ea typeface="微软雅黑" charset="0"/>
                  <a:sym typeface="+mn-ea"/>
                </a:rPr>
                <a:t>统一处理多模数据，打通数据到语义的管道。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8953" y="2032992"/>
            <a:ext cx="8904072" cy="4767549"/>
          </a:xfrm>
          <a:prstGeom prst="rect">
            <a:avLst/>
          </a:prstGeom>
          <a:solidFill>
            <a:srgbClr val="E4F0E8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25845-EE93-D643-B211-2BF1DFC6D933}" type="slidenum">
              <a:rPr kumimoji="1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2</a:t>
            </a:fld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基于需求</a:t>
            </a:r>
            <a:r>
              <a:rPr lang="zh-CN" altLang="en-US" dirty="0" smtClean="0">
                <a:sym typeface="+mn-ea"/>
              </a:rPr>
              <a:t>技术</a:t>
            </a:r>
            <a:r>
              <a:rPr lang="zh-CN" altLang="en-US" dirty="0" smtClean="0"/>
              <a:t>再出发</a:t>
            </a:r>
            <a:r>
              <a:rPr lang="en-US" altLang="zh-CN" dirty="0" smtClean="0"/>
              <a:t>--</a:t>
            </a:r>
            <a:r>
              <a:rPr lang="zh-CN" altLang="en-US" dirty="0" smtClean="0"/>
              <a:t>重构平台，跃迁本体</a:t>
            </a:r>
          </a:p>
        </p:txBody>
      </p:sp>
      <p:cxnSp>
        <p:nvCxnSpPr>
          <p:cNvPr id="93" name="直接箭头连接符 92"/>
          <p:cNvCxnSpPr/>
          <p:nvPr/>
        </p:nvCxnSpPr>
        <p:spPr>
          <a:xfrm flipV="1">
            <a:off x="6687164" y="3628110"/>
            <a:ext cx="0" cy="31051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>
            <a:off x="2323126" y="3570960"/>
            <a:ext cx="0" cy="31051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27" name="图片 1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6963" y="4686007"/>
            <a:ext cx="343173" cy="1714405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5528" y="1831452"/>
            <a:ext cx="343173" cy="1714405"/>
          </a:xfrm>
          <a:prstGeom prst="rect">
            <a:avLst/>
          </a:prstGeom>
        </p:spPr>
      </p:pic>
      <p:sp>
        <p:nvSpPr>
          <p:cNvPr id="129" name="圆角矩形"/>
          <p:cNvSpPr/>
          <p:nvPr/>
        </p:nvSpPr>
        <p:spPr>
          <a:xfrm>
            <a:off x="9228377" y="1678337"/>
            <a:ext cx="1887782" cy="2070423"/>
          </a:xfrm>
          <a:prstGeom prst="roundRect">
            <a:avLst>
              <a:gd name="adj" fmla="val 1615"/>
            </a:avLst>
          </a:prstGeom>
          <a:solidFill>
            <a:srgbClr val="F7F8FE"/>
          </a:solidFill>
          <a:ln w="12700">
            <a:solidFill>
              <a:srgbClr val="3865DB"/>
            </a:solidFill>
            <a:custDash>
              <a:ds d="200000" sp="200000"/>
            </a:custDash>
            <a:miter lim="400000"/>
          </a:ln>
        </p:spPr>
        <p:txBody>
          <a:bodyPr lIns="36000" tIns="36000" rIns="36000" bIns="36000" anchor="ctr"/>
          <a:lstStyle/>
          <a:p>
            <a:pPr>
              <a:defRPr sz="2800" b="0">
                <a:solidFill>
                  <a:srgbClr val="A7A7A7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 sz="1400" dirty="0">
              <a:latin typeface="微软雅黑" charset="0"/>
              <a:ea typeface="微软雅黑" charset="0"/>
            </a:endParaRPr>
          </a:p>
        </p:txBody>
      </p:sp>
      <p:sp>
        <p:nvSpPr>
          <p:cNvPr id="130" name="圆角矩形"/>
          <p:cNvSpPr/>
          <p:nvPr/>
        </p:nvSpPr>
        <p:spPr>
          <a:xfrm>
            <a:off x="9218711" y="1583088"/>
            <a:ext cx="1897447" cy="469900"/>
          </a:xfrm>
          <a:prstGeom prst="roundRect">
            <a:avLst>
              <a:gd name="adj" fmla="val 12500"/>
            </a:avLst>
          </a:prstGeom>
          <a:solidFill>
            <a:srgbClr val="4364D5"/>
          </a:solidFill>
          <a:ln w="12700">
            <a:solidFill>
              <a:schemeClr val="accent1"/>
            </a:solidFill>
            <a:miter lim="400000"/>
          </a:ln>
        </p:spPr>
        <p:txBody>
          <a:bodyPr lIns="36000" tIns="36000" rIns="36000" bIns="36000" anchor="ctr"/>
          <a:lstStyle/>
          <a:p>
            <a:pPr algn="ctr" defTabSz="1219200">
              <a:defRPr sz="1800" b="0">
                <a:solidFill>
                  <a:srgbClr val="FFFFFF"/>
                </a:solidFill>
              </a:defRPr>
            </a:pPr>
            <a:r>
              <a:rPr lang="zh-CN" altLang="en-US" sz="1600" b="1" dirty="0" smtClean="0">
                <a:latin typeface="微软雅黑" charset="0"/>
                <a:ea typeface="微软雅黑" charset="0"/>
              </a:rPr>
              <a:t>以本体为基石的</a:t>
            </a:r>
            <a:endParaRPr lang="en-US" altLang="zh-CN" sz="1600" b="1" dirty="0" smtClean="0">
              <a:latin typeface="微软雅黑" charset="0"/>
              <a:ea typeface="微软雅黑" charset="0"/>
            </a:endParaRPr>
          </a:p>
          <a:p>
            <a:pPr algn="ctr" defTabSz="1219200">
              <a:defRPr sz="1800" b="0">
                <a:solidFill>
                  <a:srgbClr val="FFFFFF"/>
                </a:solidFill>
              </a:defRPr>
            </a:pPr>
            <a:r>
              <a:rPr lang="zh-CN" altLang="en-US" sz="1600" b="1" dirty="0" smtClean="0">
                <a:latin typeface="微软雅黑" charset="0"/>
                <a:ea typeface="微软雅黑" charset="0"/>
              </a:rPr>
              <a:t>技术跃迁</a:t>
            </a:r>
            <a:endParaRPr lang="zh-CN" altLang="en-US" sz="1600" b="1" dirty="0">
              <a:latin typeface="微软雅黑" charset="0"/>
              <a:ea typeface="微软雅黑" charset="0"/>
            </a:endParaRPr>
          </a:p>
        </p:txBody>
      </p:sp>
      <p:sp>
        <p:nvSpPr>
          <p:cNvPr id="131" name="文本框 130"/>
          <p:cNvSpPr txBox="1"/>
          <p:nvPr>
            <p:custDataLst>
              <p:tags r:id="rId1"/>
            </p:custDataLst>
          </p:nvPr>
        </p:nvSpPr>
        <p:spPr>
          <a:xfrm>
            <a:off x="9306280" y="2024274"/>
            <a:ext cx="1879029" cy="1735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lnSpc>
                <a:spcPct val="110000"/>
              </a:lnSpc>
              <a:defRPr/>
            </a:pPr>
            <a:r>
              <a:rPr lang="en-US" altLang="zh-CN" sz="1400" b="1" dirty="0" smtClean="0">
                <a:latin typeface="微软雅黑" charset="0"/>
                <a:ea typeface="微软雅黑" charset="0"/>
                <a:sym typeface="+mn-ea"/>
              </a:rPr>
              <a:t>    </a:t>
            </a:r>
            <a:r>
              <a:rPr lang="zh-CN" altLang="en-US" sz="1600" b="1" dirty="0" smtClean="0">
                <a:latin typeface="微软雅黑" charset="0"/>
                <a:ea typeface="微软雅黑" charset="0"/>
                <a:sym typeface="+mn-ea"/>
              </a:rPr>
              <a:t>本体贯通技术</a:t>
            </a:r>
          </a:p>
          <a:p>
            <a:pPr lvl="0">
              <a:lnSpc>
                <a:spcPct val="120000"/>
              </a:lnSpc>
              <a:defRPr/>
            </a:pPr>
            <a:r>
              <a:rPr kumimoji="1" lang="en-US" altLang="zh-CN" sz="11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</a:rPr>
              <a:t>      </a:t>
            </a:r>
            <a:r>
              <a:rPr kumimoji="1" lang="zh-CN" altLang="en-US" sz="11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</a:rPr>
              <a:t>以本体建模驱动，打通各域数据</a:t>
            </a:r>
            <a:r>
              <a:rPr kumimoji="1" lang="en-US" altLang="zh-CN" sz="1100" dirty="0" err="1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</a:rPr>
              <a:t>资产</a:t>
            </a:r>
            <a:r>
              <a:rPr kumimoji="1" lang="zh-CN" altLang="en-US" sz="11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</a:rPr>
              <a:t>语义；</a:t>
            </a:r>
            <a:endParaRPr kumimoji="1" lang="en-US" altLang="zh-CN" sz="1100" dirty="0">
              <a:solidFill>
                <a:prstClr val="black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lang="en-US" altLang="zh-CN" sz="1400" b="1" dirty="0" smtClean="0">
                <a:latin typeface="微软雅黑" charset="0"/>
                <a:ea typeface="微软雅黑" charset="0"/>
                <a:sym typeface="+mn-ea"/>
              </a:rPr>
              <a:t>    </a:t>
            </a:r>
            <a:r>
              <a:rPr lang="zh-CN" altLang="en-US" sz="1600" b="1" dirty="0" smtClean="0">
                <a:latin typeface="微软雅黑" charset="0"/>
                <a:ea typeface="微软雅黑" charset="0"/>
                <a:sym typeface="+mn-ea"/>
              </a:rPr>
              <a:t>本体语义安全防护技术</a:t>
            </a:r>
          </a:p>
          <a:p>
            <a:pPr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1" lang="en-US" altLang="zh-CN" sz="11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</a:rPr>
              <a:t>       </a:t>
            </a:r>
            <a:r>
              <a:rPr kumimoji="1" lang="zh-CN" altLang="en-US" sz="11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</a:rPr>
              <a:t>本体定义权属语义模型</a:t>
            </a:r>
            <a:r>
              <a:rPr kumimoji="1" lang="en-US" altLang="zh-CN" sz="11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kumimoji="1" lang="zh-CN" altLang="en-US" sz="11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</a:rPr>
              <a:t>细粒度语义确权授权。</a:t>
            </a:r>
            <a:endParaRPr kumimoji="1" lang="en-US" altLang="zh-CN" sz="1100" dirty="0">
              <a:solidFill>
                <a:prstClr val="black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2" name="椭圆 131"/>
          <p:cNvSpPr/>
          <p:nvPr/>
        </p:nvSpPr>
        <p:spPr>
          <a:xfrm>
            <a:off x="9254469" y="2042605"/>
            <a:ext cx="342240" cy="312403"/>
          </a:xfrm>
          <a:prstGeom prst="ellipse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1</a:t>
            </a:r>
            <a:endParaRPr lang="zh-CN" altLang="en-US" sz="1600" dirty="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133" name="椭圆 132"/>
          <p:cNvSpPr/>
          <p:nvPr/>
        </p:nvSpPr>
        <p:spPr>
          <a:xfrm>
            <a:off x="9271524" y="2708742"/>
            <a:ext cx="342240" cy="312403"/>
          </a:xfrm>
          <a:prstGeom prst="ellipse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2</a:t>
            </a:r>
            <a:endParaRPr lang="zh-CN" altLang="en-US" sz="1600" dirty="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134" name="圆角矩形"/>
          <p:cNvSpPr/>
          <p:nvPr/>
        </p:nvSpPr>
        <p:spPr>
          <a:xfrm>
            <a:off x="9237938" y="4013967"/>
            <a:ext cx="1878220" cy="2751569"/>
          </a:xfrm>
          <a:prstGeom prst="roundRect">
            <a:avLst>
              <a:gd name="adj" fmla="val 1615"/>
            </a:avLst>
          </a:prstGeom>
          <a:solidFill>
            <a:srgbClr val="F7F8FE"/>
          </a:solidFill>
          <a:ln w="12700">
            <a:solidFill>
              <a:srgbClr val="3865DB"/>
            </a:solidFill>
            <a:custDash>
              <a:ds d="200000" sp="200000"/>
            </a:custDash>
            <a:miter lim="400000"/>
          </a:ln>
        </p:spPr>
        <p:txBody>
          <a:bodyPr lIns="36000" tIns="36000" rIns="36000" bIns="36000" anchor="ctr"/>
          <a:lstStyle/>
          <a:p>
            <a:pPr>
              <a:defRPr sz="2800" b="0">
                <a:solidFill>
                  <a:srgbClr val="A7A7A7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 sz="1400" dirty="0">
              <a:latin typeface="微软雅黑" charset="0"/>
              <a:ea typeface="微软雅黑" charset="0"/>
            </a:endParaRPr>
          </a:p>
        </p:txBody>
      </p:sp>
      <p:sp>
        <p:nvSpPr>
          <p:cNvPr id="135" name="圆角矩形"/>
          <p:cNvSpPr/>
          <p:nvPr/>
        </p:nvSpPr>
        <p:spPr>
          <a:xfrm>
            <a:off x="9229048" y="3918718"/>
            <a:ext cx="1887836" cy="469900"/>
          </a:xfrm>
          <a:prstGeom prst="roundRect">
            <a:avLst>
              <a:gd name="adj" fmla="val 12500"/>
            </a:avLst>
          </a:prstGeom>
          <a:solidFill>
            <a:srgbClr val="4364D5"/>
          </a:solidFill>
          <a:ln w="12700">
            <a:solidFill>
              <a:schemeClr val="accent1"/>
            </a:solidFill>
            <a:miter lim="400000"/>
          </a:ln>
        </p:spPr>
        <p:txBody>
          <a:bodyPr lIns="36000" tIns="36000" rIns="36000" bIns="36000" anchor="ctr"/>
          <a:lstStyle/>
          <a:p>
            <a:pPr algn="ctr" defTabSz="1219200">
              <a:defRPr sz="1800" b="0">
                <a:solidFill>
                  <a:srgbClr val="FFFFFF"/>
                </a:solidFill>
              </a:defRPr>
            </a:pPr>
            <a:r>
              <a:rPr lang="zh-CN" altLang="en-US" sz="1600" b="1" dirty="0" smtClean="0">
                <a:latin typeface="微软雅黑" charset="0"/>
                <a:ea typeface="微软雅黑" charset="0"/>
              </a:rPr>
              <a:t>以数据为底座的</a:t>
            </a:r>
            <a:endParaRPr lang="en-US" altLang="zh-CN" sz="1600" b="1" dirty="0" smtClean="0">
              <a:latin typeface="微软雅黑" charset="0"/>
              <a:ea typeface="微软雅黑" charset="0"/>
            </a:endParaRPr>
          </a:p>
          <a:p>
            <a:pPr algn="ctr" defTabSz="1219200">
              <a:defRPr sz="1800" b="0">
                <a:solidFill>
                  <a:srgbClr val="FFFFFF"/>
                </a:solidFill>
              </a:defRPr>
            </a:pPr>
            <a:r>
              <a:rPr lang="zh-CN" altLang="en-US" sz="1600" b="1" dirty="0" smtClean="0">
                <a:latin typeface="微软雅黑" charset="0"/>
                <a:ea typeface="微软雅黑" charset="0"/>
              </a:rPr>
              <a:t>技术升级</a:t>
            </a:r>
          </a:p>
        </p:txBody>
      </p:sp>
      <p:sp>
        <p:nvSpPr>
          <p:cNvPr id="136" name="文本框 135"/>
          <p:cNvSpPr txBox="1"/>
          <p:nvPr>
            <p:custDataLst>
              <p:tags r:id="rId2"/>
            </p:custDataLst>
          </p:nvPr>
        </p:nvSpPr>
        <p:spPr>
          <a:xfrm>
            <a:off x="9237345" y="4448810"/>
            <a:ext cx="1879600" cy="1734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lnSpc>
                <a:spcPct val="100000"/>
              </a:lnSpc>
              <a:defRPr/>
            </a:pPr>
            <a:r>
              <a:rPr lang="en-US" altLang="zh-CN" sz="1400" b="1" dirty="0" smtClean="0">
                <a:latin typeface="微软雅黑" charset="0"/>
                <a:ea typeface="微软雅黑" charset="0"/>
                <a:sym typeface="+mn-ea"/>
              </a:rPr>
              <a:t>      </a:t>
            </a:r>
            <a:r>
              <a:rPr lang="en-US" altLang="zh-CN" sz="1600" b="1" dirty="0" smtClean="0">
                <a:latin typeface="微软雅黑" charset="0"/>
                <a:ea typeface="微软雅黑" charset="0"/>
                <a:sym typeface="+mn-ea"/>
              </a:rPr>
              <a:t>AI</a:t>
            </a:r>
            <a:r>
              <a:rPr lang="zh-CN" altLang="en-US" sz="1600" b="1" dirty="0" smtClean="0">
                <a:latin typeface="微软雅黑" charset="0"/>
                <a:ea typeface="微软雅黑" charset="0"/>
                <a:sym typeface="+mn-ea"/>
              </a:rPr>
              <a:t>原生数据工厂技术</a:t>
            </a:r>
          </a:p>
          <a:p>
            <a:pPr lvl="0">
              <a:lnSpc>
                <a:spcPct val="100000"/>
              </a:lnSpc>
              <a:defRPr/>
            </a:pPr>
            <a:r>
              <a:rPr kumimoji="1" lang="en-US" altLang="zh-CN" sz="12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</a:rPr>
              <a:t>      </a:t>
            </a:r>
            <a:r>
              <a:rPr lang="zh-CN" altLang="en-US" sz="1200" dirty="0" smtClean="0">
                <a:latin typeface="微软雅黑" charset="0"/>
                <a:ea typeface="微软雅黑" charset="0"/>
                <a:sym typeface="+mn-ea"/>
              </a:rPr>
              <a:t>以 </a:t>
            </a:r>
            <a:r>
              <a:rPr lang="en-US" altLang="zh-CN" sz="1200" dirty="0" smtClean="0">
                <a:latin typeface="微软雅黑" charset="0"/>
                <a:ea typeface="微软雅黑" charset="0"/>
                <a:sym typeface="+mn-ea"/>
              </a:rPr>
              <a:t>Agent </a:t>
            </a:r>
            <a:r>
              <a:rPr lang="zh-CN" altLang="en-US" sz="1200" dirty="0" smtClean="0">
                <a:latin typeface="微软雅黑" charset="0"/>
                <a:ea typeface="微软雅黑" charset="0"/>
                <a:sym typeface="+mn-ea"/>
              </a:rPr>
              <a:t>驱动数据生产全链路，从手工开发走向智能制造。</a:t>
            </a:r>
            <a:endParaRPr kumimoji="1" lang="en-US" altLang="zh-CN" sz="1200" dirty="0">
              <a:solidFill>
                <a:prstClr val="black"/>
              </a:solidFill>
              <a:latin typeface="微软雅黑" charset="0"/>
              <a:ea typeface="微软雅黑" charset="0"/>
              <a:sym typeface="+mn-ea"/>
            </a:endParaRPr>
          </a:p>
          <a:p>
            <a:pPr lvl="0">
              <a:lnSpc>
                <a:spcPct val="100000"/>
              </a:lnSpc>
              <a:defRPr/>
            </a:pPr>
            <a:r>
              <a:rPr kumimoji="1" lang="en-US" altLang="zh-CN" sz="1200" b="1" dirty="0" smtClean="0">
                <a:solidFill>
                  <a:prstClr val="black"/>
                </a:solidFill>
                <a:latin typeface="微软雅黑" charset="0"/>
                <a:ea typeface="微软雅黑" charset="0"/>
                <a:sym typeface="+mn-ea"/>
              </a:rPr>
              <a:t>       </a:t>
            </a:r>
            <a:r>
              <a:rPr lang="zh-CN" altLang="en-US" sz="1600" b="1" dirty="0" smtClean="0">
                <a:latin typeface="微软雅黑" charset="0"/>
                <a:ea typeface="微软雅黑" charset="0"/>
                <a:sym typeface="+mn-ea"/>
              </a:rPr>
              <a:t>多</a:t>
            </a:r>
            <a:r>
              <a:rPr lang="zh-CN" altLang="en-US" sz="1600" b="1" dirty="0">
                <a:latin typeface="微软雅黑" charset="0"/>
                <a:ea typeface="微软雅黑" charset="0"/>
                <a:sym typeface="+mn-ea"/>
              </a:rPr>
              <a:t>模数据融合处理技术</a:t>
            </a:r>
          </a:p>
          <a:p>
            <a:pPr marR="0" lvl="0" indent="4572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lang="zh-CN" altLang="en-US" sz="1200" dirty="0" smtClean="0">
                <a:latin typeface="微软雅黑" charset="0"/>
                <a:ea typeface="微软雅黑" charset="0"/>
                <a:sym typeface="+mn-ea"/>
              </a:rPr>
              <a:t>统一处理多模数据，打通数据到语义的管道。</a:t>
            </a:r>
          </a:p>
          <a:p>
            <a:pPr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endParaRPr kumimoji="1" lang="en-US" altLang="zh-CN" sz="1200" dirty="0">
              <a:solidFill>
                <a:prstClr val="black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7" name="椭圆 136"/>
          <p:cNvSpPr/>
          <p:nvPr/>
        </p:nvSpPr>
        <p:spPr>
          <a:xfrm>
            <a:off x="9282539" y="4456096"/>
            <a:ext cx="340506" cy="312403"/>
          </a:xfrm>
          <a:prstGeom prst="ellipse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3</a:t>
            </a:r>
            <a:endParaRPr lang="zh-CN" altLang="en-US" sz="1600" dirty="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138" name="椭圆 137"/>
          <p:cNvSpPr/>
          <p:nvPr/>
        </p:nvSpPr>
        <p:spPr>
          <a:xfrm>
            <a:off x="9282539" y="5504960"/>
            <a:ext cx="340506" cy="312403"/>
          </a:xfrm>
          <a:prstGeom prst="ellipse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4</a:t>
            </a:r>
            <a:endParaRPr lang="zh-CN" altLang="en-US" sz="1600" dirty="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139" name="等腰三角形 138"/>
          <p:cNvSpPr/>
          <p:nvPr/>
        </p:nvSpPr>
        <p:spPr>
          <a:xfrm rot="5400000">
            <a:off x="8884565" y="3705972"/>
            <a:ext cx="5063565" cy="516591"/>
          </a:xfrm>
          <a:prstGeom prst="triangle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140" name="文本框 139"/>
          <p:cNvSpPr txBox="1"/>
          <p:nvPr>
            <p:custDataLst>
              <p:tags r:id="rId3"/>
            </p:custDataLst>
          </p:nvPr>
        </p:nvSpPr>
        <p:spPr>
          <a:xfrm>
            <a:off x="11134894" y="3795659"/>
            <a:ext cx="53975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1"/>
                </a:solidFill>
                <a:latin typeface="微软雅黑" charset="0"/>
                <a:ea typeface="微软雅黑" charset="0"/>
              </a:rPr>
              <a:t>支撑</a:t>
            </a:r>
          </a:p>
        </p:txBody>
      </p:sp>
      <p:sp>
        <p:nvSpPr>
          <p:cNvPr id="141" name="文本框 140"/>
          <p:cNvSpPr txBox="1"/>
          <p:nvPr>
            <p:custDataLst>
              <p:tags r:id="rId4"/>
            </p:custDataLst>
          </p:nvPr>
        </p:nvSpPr>
        <p:spPr>
          <a:xfrm>
            <a:off x="11620783" y="2639564"/>
            <a:ext cx="5621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  <a:latin typeface="微软雅黑" charset="0"/>
                <a:ea typeface="微软雅黑" charset="0"/>
              </a:rPr>
              <a:t>打造</a:t>
            </a:r>
            <a:r>
              <a:rPr lang="en-US" altLang="zh-CN" b="1" dirty="0">
                <a:solidFill>
                  <a:schemeClr val="accent1"/>
                </a:solidFill>
                <a:latin typeface="微软雅黑" charset="0"/>
                <a:ea typeface="微软雅黑" charset="0"/>
              </a:rPr>
              <a:t>AI</a:t>
            </a:r>
            <a:r>
              <a:rPr lang="zh-CN" altLang="en-US" b="1" dirty="0">
                <a:solidFill>
                  <a:schemeClr val="accent1"/>
                </a:solidFill>
                <a:latin typeface="微软雅黑" charset="0"/>
                <a:ea typeface="微软雅黑" charset="0"/>
              </a:rPr>
              <a:t>用数安全通路</a:t>
            </a:r>
          </a:p>
        </p:txBody>
      </p:sp>
      <p:sp>
        <p:nvSpPr>
          <p:cNvPr id="121" name="矩形 120"/>
          <p:cNvSpPr/>
          <p:nvPr/>
        </p:nvSpPr>
        <p:spPr>
          <a:xfrm>
            <a:off x="112094" y="3916482"/>
            <a:ext cx="8781648" cy="284905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sz="14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4762142" y="5301132"/>
            <a:ext cx="4023054" cy="1369440"/>
          </a:xfrm>
          <a:prstGeom prst="roundRect">
            <a:avLst>
              <a:gd name="adj" fmla="val 7215"/>
            </a:avLst>
          </a:prstGeom>
          <a:solidFill>
            <a:srgbClr val="F5F3FF"/>
          </a:solidFill>
          <a:ln>
            <a:solidFill>
              <a:srgbClr val="48A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/>
          <p:cNvSpPr txBox="1"/>
          <p:nvPr/>
        </p:nvSpPr>
        <p:spPr>
          <a:xfrm>
            <a:off x="4883047" y="5344861"/>
            <a:ext cx="3577365" cy="265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多</a:t>
            </a:r>
            <a:r>
              <a:rPr lang="zh-CN" altLang="en-US" sz="1400" b="1" dirty="0" smtClean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模存储（</a:t>
            </a:r>
            <a:r>
              <a:rPr lang="en-US" altLang="zh-CN" sz="1400" b="1" dirty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1400" b="1" dirty="0" smtClean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Lakehouse</a:t>
            </a:r>
            <a:r>
              <a:rPr lang="zh-CN" altLang="en-US" sz="1400" b="1" dirty="0" smtClean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）</a:t>
            </a:r>
          </a:p>
        </p:txBody>
      </p:sp>
      <p:sp>
        <p:nvSpPr>
          <p:cNvPr id="86" name="圆角矩形 85"/>
          <p:cNvSpPr/>
          <p:nvPr/>
        </p:nvSpPr>
        <p:spPr>
          <a:xfrm>
            <a:off x="307010" y="5301133"/>
            <a:ext cx="4376306" cy="1369439"/>
          </a:xfrm>
          <a:prstGeom prst="roundRect">
            <a:avLst>
              <a:gd name="adj" fmla="val 7215"/>
            </a:avLst>
          </a:prstGeom>
          <a:solidFill>
            <a:srgbClr val="F5F3FF"/>
          </a:solidFill>
          <a:ln>
            <a:solidFill>
              <a:srgbClr val="48A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/>
          <p:cNvSpPr txBox="1"/>
          <p:nvPr/>
        </p:nvSpPr>
        <p:spPr>
          <a:xfrm>
            <a:off x="382575" y="5344871"/>
            <a:ext cx="2751716" cy="261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数据连接与集成（</a:t>
            </a:r>
            <a:r>
              <a:rPr lang="en-US" altLang="zh-CN" sz="1400" b="1" dirty="0" err="1" smtClean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DataPipeline</a:t>
            </a:r>
            <a:r>
              <a:rPr lang="zh-CN" altLang="en-US" sz="1400" b="1" dirty="0" smtClean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）</a:t>
            </a:r>
            <a:endParaRPr lang="zh-CN" altLang="en-US" sz="1400" b="1" dirty="0">
              <a:solidFill>
                <a:srgbClr val="2E948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4" name="圆柱形 103"/>
          <p:cNvSpPr/>
          <p:nvPr/>
        </p:nvSpPr>
        <p:spPr>
          <a:xfrm>
            <a:off x="4810748" y="5657959"/>
            <a:ext cx="695796" cy="416387"/>
          </a:xfrm>
          <a:prstGeom prst="ca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Hive</a:t>
            </a:r>
          </a:p>
        </p:txBody>
      </p:sp>
      <p:sp>
        <p:nvSpPr>
          <p:cNvPr id="105" name="圆角矩形 104"/>
          <p:cNvSpPr/>
          <p:nvPr/>
        </p:nvSpPr>
        <p:spPr>
          <a:xfrm>
            <a:off x="4883047" y="6124660"/>
            <a:ext cx="3812743" cy="455222"/>
          </a:xfrm>
          <a:prstGeom prst="roundRect">
            <a:avLst>
              <a:gd name="adj" fmla="val 10706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分布式文件系统</a:t>
            </a:r>
          </a:p>
          <a:p>
            <a:pPr marL="171450" indent="-171450" algn="ctr">
              <a:buFont typeface="Arial" panose="020B0604020202090204" pitchFamily="34" charset="0"/>
              <a:buChar char="•"/>
            </a:pPr>
            <a:r>
              <a:rPr lang="en-US" altLang="zh-CN" sz="800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HDFS</a:t>
            </a:r>
          </a:p>
          <a:p>
            <a:pPr marL="171450" indent="-171450" algn="ctr">
              <a:buFont typeface="Arial" panose="020B0604020202090204" pitchFamily="34" charset="0"/>
              <a:buChar char="•"/>
            </a:pPr>
            <a:r>
              <a:rPr lang="en-US" altLang="zh-CN" sz="800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OBS</a:t>
            </a:r>
          </a:p>
        </p:txBody>
      </p:sp>
      <p:sp>
        <p:nvSpPr>
          <p:cNvPr id="106" name="圆柱形 105"/>
          <p:cNvSpPr/>
          <p:nvPr/>
        </p:nvSpPr>
        <p:spPr>
          <a:xfrm>
            <a:off x="5549005" y="5657959"/>
            <a:ext cx="765732" cy="416387"/>
          </a:xfrm>
          <a:prstGeom prst="ca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Icebreg</a:t>
            </a:r>
          </a:p>
        </p:txBody>
      </p:sp>
      <p:sp>
        <p:nvSpPr>
          <p:cNvPr id="107" name="圆柱形 106"/>
          <p:cNvSpPr/>
          <p:nvPr/>
        </p:nvSpPr>
        <p:spPr>
          <a:xfrm>
            <a:off x="6357197" y="5657959"/>
            <a:ext cx="801884" cy="416387"/>
          </a:xfrm>
          <a:prstGeom prst="ca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Nebula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Graph</a:t>
            </a:r>
          </a:p>
        </p:txBody>
      </p:sp>
      <p:sp>
        <p:nvSpPr>
          <p:cNvPr id="108" name="圆柱形 107"/>
          <p:cNvSpPr/>
          <p:nvPr/>
        </p:nvSpPr>
        <p:spPr>
          <a:xfrm>
            <a:off x="7201543" y="5657959"/>
            <a:ext cx="792696" cy="416387"/>
          </a:xfrm>
          <a:prstGeom prst="ca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LanceDB</a:t>
            </a:r>
          </a:p>
        </p:txBody>
      </p:sp>
      <p:sp>
        <p:nvSpPr>
          <p:cNvPr id="92" name="矩形 91"/>
          <p:cNvSpPr/>
          <p:nvPr/>
        </p:nvSpPr>
        <p:spPr>
          <a:xfrm>
            <a:off x="452388" y="4227000"/>
            <a:ext cx="8059269" cy="8890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zh-CN" altLang="en-US" sz="1400" b="1" dirty="0">
              <a:solidFill>
                <a:srgbClr val="2E948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684166" y="4517347"/>
            <a:ext cx="1278528" cy="244624"/>
          </a:xfrm>
          <a:prstGeom prst="roundRect">
            <a:avLst>
              <a:gd name="adj" fmla="val 1161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Hive / MR</a:t>
            </a:r>
            <a:endParaRPr lang="en-US" altLang="zh-CN" sz="1100" dirty="0" smtClean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2275612" y="4517347"/>
            <a:ext cx="1278528" cy="244624"/>
          </a:xfrm>
          <a:prstGeom prst="roundRect">
            <a:avLst>
              <a:gd name="adj" fmla="val 1161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Spark</a:t>
            </a:r>
            <a:endParaRPr lang="en-US" altLang="zh-CN" sz="1100" dirty="0" smtClean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1" name="圆角矩形 100"/>
          <p:cNvSpPr/>
          <p:nvPr/>
        </p:nvSpPr>
        <p:spPr>
          <a:xfrm>
            <a:off x="3867058" y="4517347"/>
            <a:ext cx="1278528" cy="244624"/>
          </a:xfrm>
          <a:prstGeom prst="roundRect">
            <a:avLst>
              <a:gd name="adj" fmla="val 1161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err="1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Flink</a:t>
            </a:r>
            <a:endParaRPr lang="en-US" altLang="zh-CN" sz="1100" dirty="0" smtClean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5458503" y="4515669"/>
            <a:ext cx="1278528" cy="244624"/>
          </a:xfrm>
          <a:prstGeom prst="roundRect">
            <a:avLst>
              <a:gd name="adj" fmla="val 1161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向量</a:t>
            </a:r>
            <a:r>
              <a:rPr lang="en-US" altLang="zh-CN" sz="11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Embedding</a:t>
            </a:r>
          </a:p>
        </p:txBody>
      </p:sp>
      <p:sp>
        <p:nvSpPr>
          <p:cNvPr id="103" name="圆角矩形 102"/>
          <p:cNvSpPr/>
          <p:nvPr/>
        </p:nvSpPr>
        <p:spPr>
          <a:xfrm>
            <a:off x="7049949" y="4515669"/>
            <a:ext cx="1278528" cy="244624"/>
          </a:xfrm>
          <a:prstGeom prst="roundRect">
            <a:avLst>
              <a:gd name="adj" fmla="val 1161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err="1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StarRocks</a:t>
            </a:r>
            <a:r>
              <a:rPr lang="en-US" altLang="zh-CN" sz="11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 OLAP</a:t>
            </a:r>
          </a:p>
        </p:txBody>
      </p:sp>
      <p:sp>
        <p:nvSpPr>
          <p:cNvPr id="109" name="圆角矩形 108"/>
          <p:cNvSpPr/>
          <p:nvPr/>
        </p:nvSpPr>
        <p:spPr>
          <a:xfrm>
            <a:off x="1864234" y="4802472"/>
            <a:ext cx="4821861" cy="258063"/>
          </a:xfrm>
          <a:prstGeom prst="roundRect">
            <a:avLst>
              <a:gd name="adj" fmla="val 5678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charset="-122"/>
              <a:ea typeface="微软雅黑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973626" y="4827401"/>
            <a:ext cx="699000" cy="2525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 smtClean="0">
                <a:latin typeface="微软雅黑" charset="-122"/>
                <a:ea typeface="微软雅黑" charset="-122"/>
              </a:rPr>
              <a:t>资源调度</a:t>
            </a:r>
            <a:endParaRPr lang="zh-CN" altLang="en-US" sz="1100" dirty="0">
              <a:latin typeface="微软雅黑" charset="-122"/>
              <a:ea typeface="微软雅黑" charset="-122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3112513" y="4836996"/>
            <a:ext cx="986138" cy="1834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yarn</a:t>
            </a:r>
            <a:endParaRPr lang="zh-CN" altLang="en-US" sz="1100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4809680" y="4836996"/>
            <a:ext cx="986138" cy="1834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k8s</a:t>
            </a:r>
            <a:endParaRPr lang="zh-CN" altLang="en-US" sz="1100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5" name="圆柱形 114"/>
          <p:cNvSpPr/>
          <p:nvPr/>
        </p:nvSpPr>
        <p:spPr>
          <a:xfrm>
            <a:off x="8051390" y="5657959"/>
            <a:ext cx="703960" cy="416387"/>
          </a:xfrm>
          <a:prstGeom prst="ca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err="1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Paimon</a:t>
            </a:r>
            <a:endParaRPr lang="en-US" altLang="zh-CN" sz="1100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6" name="圆角矩形 115"/>
          <p:cNvSpPr/>
          <p:nvPr/>
        </p:nvSpPr>
        <p:spPr>
          <a:xfrm>
            <a:off x="2063006" y="5657959"/>
            <a:ext cx="1315561" cy="921922"/>
          </a:xfrm>
          <a:prstGeom prst="roundRect">
            <a:avLst>
              <a:gd name="adj" fmla="val 5246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数据处理</a:t>
            </a:r>
          </a:p>
          <a:p>
            <a:pPr algn="ctr"/>
            <a:endParaRPr lang="zh-CN" altLang="en-US" sz="12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数据处理</a:t>
            </a:r>
            <a:r>
              <a:rPr lang="en-US" altLang="zh-CN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SQL/Java…</a:t>
            </a:r>
            <a:endParaRPr lang="en-US" altLang="zh-CN" sz="8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8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调度依赖</a:t>
            </a:r>
            <a:r>
              <a:rPr lang="en-US" altLang="zh-CN" sz="8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Schedule</a:t>
            </a: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数据工程</a:t>
            </a:r>
            <a:r>
              <a:rPr lang="en-US" altLang="zh-CN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Agent</a:t>
            </a: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altLang="zh-CN" sz="800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algn="ctr"/>
            <a:endParaRPr lang="zh-CN" altLang="en-US" sz="8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3440277" y="5663699"/>
            <a:ext cx="1225084" cy="921922"/>
          </a:xfrm>
          <a:prstGeom prst="roundRect">
            <a:avLst>
              <a:gd name="adj" fmla="val 6806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数据治理</a:t>
            </a:r>
          </a:p>
          <a:p>
            <a:pPr algn="ctr"/>
            <a:endParaRPr lang="zh-CN" altLang="en-US" sz="12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元数据</a:t>
            </a:r>
            <a:r>
              <a:rPr lang="en-US" altLang="zh-CN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metadata</a:t>
            </a: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数据质量</a:t>
            </a: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数据血缘</a:t>
            </a:r>
            <a:r>
              <a:rPr lang="en-US" altLang="zh-CN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Lineage</a:t>
            </a:r>
            <a:endParaRPr lang="zh-CN" altLang="en-US" sz="800" dirty="0" smtClean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数据治理</a:t>
            </a:r>
            <a:r>
              <a:rPr lang="en-US" altLang="zh-CN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Agent</a:t>
            </a:r>
            <a:endParaRPr lang="en-US" altLang="zh-CN" sz="800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8" name="圆角矩形 117"/>
          <p:cNvSpPr/>
          <p:nvPr/>
        </p:nvSpPr>
        <p:spPr>
          <a:xfrm>
            <a:off x="332297" y="5661912"/>
            <a:ext cx="1692609" cy="917969"/>
          </a:xfrm>
          <a:prstGeom prst="roundRect">
            <a:avLst>
              <a:gd name="adj" fmla="val 6789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数据连接</a:t>
            </a:r>
          </a:p>
          <a:p>
            <a:pPr algn="ctr"/>
            <a:endParaRPr lang="zh-CN" altLang="en-US" sz="12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8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连接探测</a:t>
            </a:r>
            <a:r>
              <a:rPr lang="en-US" altLang="zh-CN" sz="8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Detection</a:t>
            </a: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8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自动重试</a:t>
            </a:r>
            <a:r>
              <a:rPr lang="en-US" altLang="zh-CN" sz="800" dirty="0" err="1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FailureRetry</a:t>
            </a:r>
            <a:endParaRPr lang="en-US" altLang="zh-CN" sz="8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8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增量</a:t>
            </a:r>
            <a:r>
              <a:rPr lang="en-US" altLang="zh-CN" sz="8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/</a:t>
            </a:r>
            <a:r>
              <a:rPr lang="zh-CN" altLang="en-US" sz="8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全量同步</a:t>
            </a:r>
            <a:r>
              <a:rPr lang="en-US" altLang="zh-CN" sz="800" dirty="0" err="1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DataX</a:t>
            </a:r>
            <a:r>
              <a:rPr lang="en-US" altLang="zh-CN" sz="8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/Spark</a:t>
            </a:r>
          </a:p>
        </p:txBody>
      </p:sp>
      <p:sp>
        <p:nvSpPr>
          <p:cNvPr id="143" name="文本框 142"/>
          <p:cNvSpPr txBox="1"/>
          <p:nvPr/>
        </p:nvSpPr>
        <p:spPr>
          <a:xfrm>
            <a:off x="3065113" y="4227000"/>
            <a:ext cx="2581156" cy="265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数据计算引擎（离线 </a:t>
            </a:r>
            <a:r>
              <a:rPr lang="en-US" altLang="zh-CN" sz="1400" b="1" dirty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+</a:t>
            </a:r>
            <a:r>
              <a:rPr lang="zh-CN" altLang="en-US" sz="1400" b="1" dirty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 实时）</a:t>
            </a:r>
          </a:p>
        </p:txBody>
      </p:sp>
      <p:sp>
        <p:nvSpPr>
          <p:cNvPr id="145" name="文本框 14"/>
          <p:cNvSpPr txBox="1"/>
          <p:nvPr/>
        </p:nvSpPr>
        <p:spPr>
          <a:xfrm>
            <a:off x="3343337" y="3917057"/>
            <a:ext cx="2399889" cy="31908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数据</a:t>
            </a:r>
            <a:r>
              <a:rPr kumimoji="0" lang="zh-CN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层（</a:t>
            </a: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Data Layer</a:t>
            </a:r>
            <a:r>
              <a:rPr kumimoji="0" lang="zh-CN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112094" y="2117423"/>
            <a:ext cx="8781650" cy="152973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sz="14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260230" y="2489188"/>
            <a:ext cx="5198273" cy="1102354"/>
          </a:xfrm>
          <a:prstGeom prst="roundRect">
            <a:avLst>
              <a:gd name="adj" fmla="val 7215"/>
            </a:avLst>
          </a:prstGeom>
          <a:solidFill>
            <a:srgbClr val="F5F3FF"/>
          </a:solidFill>
          <a:ln>
            <a:solidFill>
              <a:srgbClr val="48A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/>
        </p:nvSpPr>
        <p:spPr>
          <a:xfrm>
            <a:off x="348840" y="2541381"/>
            <a:ext cx="29322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本体建模（</a:t>
            </a:r>
            <a:r>
              <a:rPr lang="en-US" altLang="zh-CN" sz="1400" b="1" dirty="0" smtClean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Semantic </a:t>
            </a:r>
            <a:r>
              <a:rPr lang="en-US" altLang="zh-CN" sz="1400" b="1" dirty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+ K</a:t>
            </a:r>
            <a:r>
              <a:rPr lang="en-US" altLang="zh-CN" sz="1400" b="1" dirty="0" smtClean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inetic</a:t>
            </a:r>
            <a:r>
              <a:rPr lang="zh-CN" altLang="en-US" sz="1400" b="1" dirty="0" smtClean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）</a:t>
            </a:r>
            <a:endParaRPr lang="zh-CN" altLang="en-US" sz="1400" b="1" dirty="0">
              <a:solidFill>
                <a:srgbClr val="2E948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382985" y="2911262"/>
            <a:ext cx="1715165" cy="598707"/>
          </a:xfrm>
          <a:prstGeom prst="roundRect">
            <a:avLst>
              <a:gd name="adj" fmla="val 7790"/>
            </a:avLst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数据（</a:t>
            </a:r>
            <a:r>
              <a:rPr lang="en-US" altLang="zh-CN" sz="1200" b="1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Data</a:t>
            </a:r>
            <a:r>
              <a:rPr lang="zh-CN" altLang="en-US" sz="1200" b="1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）</a:t>
            </a:r>
            <a:endParaRPr lang="en-US" altLang="zh-CN" sz="1200" b="1" dirty="0" smtClean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algn="ctr"/>
            <a:endParaRPr lang="en-US" altLang="zh-CN" sz="800" dirty="0" smtClean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Object Type/Link Type</a:t>
            </a: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800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Property</a:t>
            </a:r>
            <a:endParaRPr lang="en-US" altLang="zh-CN" sz="800" dirty="0" smtClean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2" name="圆角矩形 111"/>
          <p:cNvSpPr/>
          <p:nvPr/>
        </p:nvSpPr>
        <p:spPr>
          <a:xfrm>
            <a:off x="2180362" y="2914003"/>
            <a:ext cx="1634300" cy="598707"/>
          </a:xfrm>
          <a:prstGeom prst="roundRect">
            <a:avLst>
              <a:gd name="adj" fmla="val 10337"/>
            </a:avLst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逻辑（</a:t>
            </a:r>
            <a:r>
              <a:rPr lang="en-US" altLang="zh-CN" sz="1200" b="1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Logic</a:t>
            </a:r>
            <a:r>
              <a:rPr lang="zh-CN" altLang="en-US" sz="1200" b="1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）</a:t>
            </a:r>
            <a:endParaRPr lang="en-US" altLang="zh-CN" sz="1200" b="1" dirty="0" smtClean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algn="ctr"/>
            <a:endParaRPr lang="en-US" altLang="zh-CN" sz="800" dirty="0" smtClean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Business Rule</a:t>
            </a: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Function/Model</a:t>
            </a:r>
            <a:endParaRPr lang="en-US" altLang="zh-CN" sz="800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3899330" y="2915840"/>
            <a:ext cx="1468700" cy="598707"/>
          </a:xfrm>
          <a:prstGeom prst="roundRect">
            <a:avLst>
              <a:gd name="adj" fmla="val 10337"/>
            </a:avLst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执行（</a:t>
            </a:r>
            <a:r>
              <a:rPr lang="en-US" altLang="zh-CN" sz="1200" b="1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Action</a:t>
            </a:r>
            <a:r>
              <a:rPr lang="zh-CN" altLang="en-US" sz="1200" b="1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）</a:t>
            </a:r>
            <a:endParaRPr lang="en-US" altLang="zh-CN" sz="1200" b="1" dirty="0" smtClean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algn="ctr"/>
            <a:endParaRPr lang="en-US" altLang="zh-CN" sz="800" dirty="0" smtClean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Action Type</a:t>
            </a: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800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Submission </a:t>
            </a:r>
            <a:r>
              <a:rPr lang="en-US" altLang="zh-CN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criteria</a:t>
            </a:r>
            <a:endParaRPr lang="en-US" altLang="zh-CN" sz="800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6" name="文本框 14"/>
          <p:cNvSpPr txBox="1"/>
          <p:nvPr/>
        </p:nvSpPr>
        <p:spPr>
          <a:xfrm>
            <a:off x="3011871" y="2117424"/>
            <a:ext cx="3141002" cy="338291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1">
            <a:spAutoFit/>
          </a:bodyPr>
          <a:lstStyle/>
          <a:p>
            <a:pPr lvl="0"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本体</a:t>
            </a:r>
            <a:r>
              <a:rPr kumimoji="0" lang="zh-CN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层（</a:t>
            </a:r>
            <a:r>
              <a:rPr lang="en-US" altLang="zh-CN" b="1" noProof="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O</a:t>
            </a:r>
            <a:r>
              <a:rPr lang="en-US" altLang="zh-CN" b="1" dirty="0" err="1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ntology</a:t>
            </a:r>
            <a:r>
              <a:rPr lang="en-US" altLang="zh-CN" b="1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 </a:t>
            </a: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Layer</a:t>
            </a:r>
            <a:r>
              <a:rPr kumimoji="0" lang="zh-CN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5760" y="1005205"/>
            <a:ext cx="11170285" cy="406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16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底层重铸数据底盘，上层新建本体语义与行动层，双轨并行完成一次技术架构更迭。</a:t>
            </a:r>
          </a:p>
        </p:txBody>
      </p:sp>
      <p:sp>
        <p:nvSpPr>
          <p:cNvPr id="4" name="椭圆 3"/>
          <p:cNvSpPr/>
          <p:nvPr/>
        </p:nvSpPr>
        <p:spPr>
          <a:xfrm>
            <a:off x="7020338" y="5330153"/>
            <a:ext cx="340506" cy="312403"/>
          </a:xfrm>
          <a:prstGeom prst="ellipse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4</a:t>
            </a:r>
            <a:endParaRPr lang="zh-CN" altLang="en-US" sz="1600" dirty="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085423" y="5322050"/>
            <a:ext cx="340506" cy="312403"/>
          </a:xfrm>
          <a:prstGeom prst="ellipse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3</a:t>
            </a:r>
            <a:endParaRPr lang="zh-CN" altLang="en-US" sz="1600" dirty="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90650" y="1653652"/>
            <a:ext cx="6123363" cy="1650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梯形 8"/>
          <p:cNvSpPr/>
          <p:nvPr/>
        </p:nvSpPr>
        <p:spPr>
          <a:xfrm>
            <a:off x="1390650" y="1405288"/>
            <a:ext cx="6123363" cy="247295"/>
          </a:xfrm>
          <a:prstGeom prst="trapezoid">
            <a:avLst>
              <a:gd name="adj" fmla="val 3624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561488" y="1375046"/>
            <a:ext cx="2102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dirty="0" smtClean="0">
                <a:latin typeface="微软雅黑" charset="-122"/>
                <a:ea typeface="微软雅黑" charset="-122"/>
              </a:rPr>
              <a:t>AGENTS + PRODUCTS</a:t>
            </a:r>
            <a:endParaRPr kumimoji="1" lang="zh-CN" altLang="en-US" sz="1400" dirty="0">
              <a:latin typeface="微软雅黑" charset="-122"/>
              <a:ea typeface="微软雅黑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443717" y="1513547"/>
            <a:ext cx="4386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600" dirty="0" smtClean="0">
                <a:latin typeface="微软雅黑" charset="-122"/>
                <a:ea typeface="微软雅黑" charset="-122"/>
              </a:rPr>
              <a:t>.      .      .      .      .      .      .      .      .      .      .</a:t>
            </a:r>
            <a:endParaRPr kumimoji="1" lang="zh-CN" altLang="en-US" sz="1600" dirty="0">
              <a:latin typeface="微软雅黑" charset="-122"/>
              <a:ea typeface="微软雅黑" charset="-122"/>
            </a:endParaRPr>
          </a:p>
        </p:txBody>
      </p:sp>
      <p:sp>
        <p:nvSpPr>
          <p:cNvPr id="44" name="任意多边形 43"/>
          <p:cNvSpPr/>
          <p:nvPr/>
        </p:nvSpPr>
        <p:spPr>
          <a:xfrm>
            <a:off x="2559050" y="1749425"/>
            <a:ext cx="187325" cy="273050"/>
          </a:xfrm>
          <a:custGeom>
            <a:avLst/>
            <a:gdLst>
              <a:gd name="connsiteX0" fmla="*/ 0 w 187325"/>
              <a:gd name="connsiteY0" fmla="*/ 0 h 273050"/>
              <a:gd name="connsiteX1" fmla="*/ 63500 w 187325"/>
              <a:gd name="connsiteY1" fmla="*/ 104775 h 273050"/>
              <a:gd name="connsiteX2" fmla="*/ 127000 w 187325"/>
              <a:gd name="connsiteY2" fmla="*/ 168275 h 273050"/>
              <a:gd name="connsiteX3" fmla="*/ 187325 w 187325"/>
              <a:gd name="connsiteY3" fmla="*/ 273050 h 27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325" h="273050">
                <a:moveTo>
                  <a:pt x="0" y="0"/>
                </a:moveTo>
                <a:cubicBezTo>
                  <a:pt x="21166" y="38364"/>
                  <a:pt x="42333" y="76729"/>
                  <a:pt x="63500" y="104775"/>
                </a:cubicBezTo>
                <a:cubicBezTo>
                  <a:pt x="84667" y="132821"/>
                  <a:pt x="106363" y="140229"/>
                  <a:pt x="127000" y="168275"/>
                </a:cubicBezTo>
                <a:cubicBezTo>
                  <a:pt x="147638" y="196321"/>
                  <a:pt x="167481" y="234685"/>
                  <a:pt x="187325" y="27305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/>
        </p:nvSpPr>
        <p:spPr>
          <a:xfrm>
            <a:off x="2974975" y="1746250"/>
            <a:ext cx="146050" cy="279400"/>
          </a:xfrm>
          <a:custGeom>
            <a:avLst/>
            <a:gdLst>
              <a:gd name="connsiteX0" fmla="*/ 0 w 146050"/>
              <a:gd name="connsiteY0" fmla="*/ 0 h 279400"/>
              <a:gd name="connsiteX1" fmla="*/ 47625 w 146050"/>
              <a:gd name="connsiteY1" fmla="*/ 117475 h 279400"/>
              <a:gd name="connsiteX2" fmla="*/ 111125 w 146050"/>
              <a:gd name="connsiteY2" fmla="*/ 200025 h 279400"/>
              <a:gd name="connsiteX3" fmla="*/ 146050 w 146050"/>
              <a:gd name="connsiteY3" fmla="*/ 279400 h 27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050" h="279400">
                <a:moveTo>
                  <a:pt x="0" y="0"/>
                </a:moveTo>
                <a:cubicBezTo>
                  <a:pt x="14552" y="42069"/>
                  <a:pt x="29104" y="84138"/>
                  <a:pt x="47625" y="117475"/>
                </a:cubicBezTo>
                <a:cubicBezTo>
                  <a:pt x="66146" y="150813"/>
                  <a:pt x="94721" y="173038"/>
                  <a:pt x="111125" y="200025"/>
                </a:cubicBezTo>
                <a:cubicBezTo>
                  <a:pt x="127529" y="227012"/>
                  <a:pt x="123296" y="268288"/>
                  <a:pt x="146050" y="2794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/>
        </p:nvSpPr>
        <p:spPr>
          <a:xfrm>
            <a:off x="3384550" y="1746250"/>
            <a:ext cx="174625" cy="282575"/>
          </a:xfrm>
          <a:custGeom>
            <a:avLst/>
            <a:gdLst>
              <a:gd name="connsiteX0" fmla="*/ 0 w 174625"/>
              <a:gd name="connsiteY0" fmla="*/ 0 h 282575"/>
              <a:gd name="connsiteX1" fmla="*/ 66675 w 174625"/>
              <a:gd name="connsiteY1" fmla="*/ 152400 h 282575"/>
              <a:gd name="connsiteX2" fmla="*/ 174625 w 174625"/>
              <a:gd name="connsiteY2" fmla="*/ 282575 h 282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625" h="282575">
                <a:moveTo>
                  <a:pt x="0" y="0"/>
                </a:moveTo>
                <a:cubicBezTo>
                  <a:pt x="18785" y="52652"/>
                  <a:pt x="37571" y="105304"/>
                  <a:pt x="66675" y="152400"/>
                </a:cubicBezTo>
                <a:cubicBezTo>
                  <a:pt x="95779" y="199496"/>
                  <a:pt x="135202" y="241035"/>
                  <a:pt x="174625" y="2825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/>
        </p:nvSpPr>
        <p:spPr>
          <a:xfrm>
            <a:off x="3790950" y="1749425"/>
            <a:ext cx="120650" cy="276225"/>
          </a:xfrm>
          <a:custGeom>
            <a:avLst/>
            <a:gdLst>
              <a:gd name="connsiteX0" fmla="*/ 0 w 120650"/>
              <a:gd name="connsiteY0" fmla="*/ 0 h 276225"/>
              <a:gd name="connsiteX1" fmla="*/ 120650 w 120650"/>
              <a:gd name="connsiteY1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650" h="276225">
                <a:moveTo>
                  <a:pt x="0" y="0"/>
                </a:moveTo>
                <a:cubicBezTo>
                  <a:pt x="46037" y="116416"/>
                  <a:pt x="92075" y="232833"/>
                  <a:pt x="120650" y="27622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>
            <a:off x="4210050" y="1752600"/>
            <a:ext cx="79375" cy="273050"/>
          </a:xfrm>
          <a:custGeom>
            <a:avLst/>
            <a:gdLst>
              <a:gd name="connsiteX0" fmla="*/ 0 w 79375"/>
              <a:gd name="connsiteY0" fmla="*/ 0 h 273050"/>
              <a:gd name="connsiteX1" fmla="*/ 79375 w 79375"/>
              <a:gd name="connsiteY1" fmla="*/ 273050 h 27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375" h="273050">
                <a:moveTo>
                  <a:pt x="0" y="0"/>
                </a:moveTo>
                <a:lnTo>
                  <a:pt x="79375" y="27305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任意多边形 50"/>
          <p:cNvSpPr/>
          <p:nvPr/>
        </p:nvSpPr>
        <p:spPr>
          <a:xfrm>
            <a:off x="4572000" y="1752600"/>
            <a:ext cx="44450" cy="276225"/>
          </a:xfrm>
          <a:custGeom>
            <a:avLst/>
            <a:gdLst>
              <a:gd name="connsiteX0" fmla="*/ 44450 w 44450"/>
              <a:gd name="connsiteY0" fmla="*/ 0 h 276225"/>
              <a:gd name="connsiteX1" fmla="*/ 0 w 44450"/>
              <a:gd name="connsiteY1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276225">
                <a:moveTo>
                  <a:pt x="44450" y="0"/>
                </a:moveTo>
                <a:lnTo>
                  <a:pt x="0" y="276225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/>
        </p:nvSpPr>
        <p:spPr>
          <a:xfrm>
            <a:off x="4908550" y="1758950"/>
            <a:ext cx="117475" cy="266783"/>
          </a:xfrm>
          <a:custGeom>
            <a:avLst/>
            <a:gdLst>
              <a:gd name="connsiteX0" fmla="*/ 117475 w 117475"/>
              <a:gd name="connsiteY0" fmla="*/ 0 h 266783"/>
              <a:gd name="connsiteX1" fmla="*/ 95250 w 117475"/>
              <a:gd name="connsiteY1" fmla="*/ 120650 h 266783"/>
              <a:gd name="connsiteX2" fmla="*/ 41275 w 117475"/>
              <a:gd name="connsiteY2" fmla="*/ 184150 h 266783"/>
              <a:gd name="connsiteX3" fmla="*/ 0 w 117475"/>
              <a:gd name="connsiteY3" fmla="*/ 266700 h 266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475" h="266783">
                <a:moveTo>
                  <a:pt x="117475" y="0"/>
                </a:moveTo>
                <a:cubicBezTo>
                  <a:pt x="112712" y="44979"/>
                  <a:pt x="107950" y="89958"/>
                  <a:pt x="95250" y="120650"/>
                </a:cubicBezTo>
                <a:cubicBezTo>
                  <a:pt x="82550" y="151342"/>
                  <a:pt x="57150" y="159808"/>
                  <a:pt x="41275" y="184150"/>
                </a:cubicBezTo>
                <a:cubicBezTo>
                  <a:pt x="25400" y="208492"/>
                  <a:pt x="4762" y="269346"/>
                  <a:pt x="0" y="2667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任意多边形 52"/>
          <p:cNvSpPr/>
          <p:nvPr/>
        </p:nvSpPr>
        <p:spPr>
          <a:xfrm>
            <a:off x="5276850" y="1746250"/>
            <a:ext cx="161925" cy="273050"/>
          </a:xfrm>
          <a:custGeom>
            <a:avLst/>
            <a:gdLst>
              <a:gd name="connsiteX0" fmla="*/ 161925 w 161925"/>
              <a:gd name="connsiteY0" fmla="*/ 0 h 273050"/>
              <a:gd name="connsiteX1" fmla="*/ 92075 w 161925"/>
              <a:gd name="connsiteY1" fmla="*/ 146050 h 273050"/>
              <a:gd name="connsiteX2" fmla="*/ 44450 w 161925"/>
              <a:gd name="connsiteY2" fmla="*/ 193675 h 273050"/>
              <a:gd name="connsiteX3" fmla="*/ 0 w 161925"/>
              <a:gd name="connsiteY3" fmla="*/ 273050 h 27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925" h="273050">
                <a:moveTo>
                  <a:pt x="161925" y="0"/>
                </a:moveTo>
                <a:cubicBezTo>
                  <a:pt x="136789" y="56885"/>
                  <a:pt x="111654" y="113771"/>
                  <a:pt x="92075" y="146050"/>
                </a:cubicBezTo>
                <a:cubicBezTo>
                  <a:pt x="72496" y="178329"/>
                  <a:pt x="59796" y="172508"/>
                  <a:pt x="44450" y="193675"/>
                </a:cubicBezTo>
                <a:cubicBezTo>
                  <a:pt x="29104" y="214842"/>
                  <a:pt x="14552" y="243946"/>
                  <a:pt x="0" y="27305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任意多边形 53"/>
          <p:cNvSpPr/>
          <p:nvPr/>
        </p:nvSpPr>
        <p:spPr>
          <a:xfrm>
            <a:off x="5680075" y="1752600"/>
            <a:ext cx="174625" cy="269875"/>
          </a:xfrm>
          <a:custGeom>
            <a:avLst/>
            <a:gdLst>
              <a:gd name="connsiteX0" fmla="*/ 174625 w 174625"/>
              <a:gd name="connsiteY0" fmla="*/ 0 h 269875"/>
              <a:gd name="connsiteX1" fmla="*/ 92075 w 174625"/>
              <a:gd name="connsiteY1" fmla="*/ 136525 h 269875"/>
              <a:gd name="connsiteX2" fmla="*/ 50800 w 174625"/>
              <a:gd name="connsiteY2" fmla="*/ 184150 h 269875"/>
              <a:gd name="connsiteX3" fmla="*/ 0 w 174625"/>
              <a:gd name="connsiteY3" fmla="*/ 269875 h 26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625" h="269875">
                <a:moveTo>
                  <a:pt x="174625" y="0"/>
                </a:moveTo>
                <a:cubicBezTo>
                  <a:pt x="143668" y="52916"/>
                  <a:pt x="112712" y="105833"/>
                  <a:pt x="92075" y="136525"/>
                </a:cubicBezTo>
                <a:cubicBezTo>
                  <a:pt x="71438" y="167217"/>
                  <a:pt x="66146" y="161925"/>
                  <a:pt x="50800" y="184150"/>
                </a:cubicBezTo>
                <a:cubicBezTo>
                  <a:pt x="35454" y="206375"/>
                  <a:pt x="17727" y="238125"/>
                  <a:pt x="0" y="2698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任意多边形 54"/>
          <p:cNvSpPr/>
          <p:nvPr/>
        </p:nvSpPr>
        <p:spPr>
          <a:xfrm>
            <a:off x="6041964" y="1749425"/>
            <a:ext cx="215961" cy="286793"/>
          </a:xfrm>
          <a:custGeom>
            <a:avLst/>
            <a:gdLst>
              <a:gd name="connsiteX0" fmla="*/ 215961 w 215961"/>
              <a:gd name="connsiteY0" fmla="*/ 0 h 286793"/>
              <a:gd name="connsiteX1" fmla="*/ 133411 w 215961"/>
              <a:gd name="connsiteY1" fmla="*/ 149225 h 286793"/>
              <a:gd name="connsiteX2" fmla="*/ 76261 w 215961"/>
              <a:gd name="connsiteY2" fmla="*/ 193675 h 286793"/>
              <a:gd name="connsiteX3" fmla="*/ 19111 w 215961"/>
              <a:gd name="connsiteY3" fmla="*/ 279400 h 286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961" h="286793">
                <a:moveTo>
                  <a:pt x="215961" y="0"/>
                </a:moveTo>
                <a:cubicBezTo>
                  <a:pt x="186327" y="58473"/>
                  <a:pt x="156694" y="116946"/>
                  <a:pt x="133411" y="149225"/>
                </a:cubicBezTo>
                <a:cubicBezTo>
                  <a:pt x="110128" y="181504"/>
                  <a:pt x="95311" y="171979"/>
                  <a:pt x="76261" y="193675"/>
                </a:cubicBezTo>
                <a:cubicBezTo>
                  <a:pt x="57211" y="215371"/>
                  <a:pt x="-40685" y="314325"/>
                  <a:pt x="19111" y="2794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任意多边形 55"/>
          <p:cNvSpPr/>
          <p:nvPr/>
        </p:nvSpPr>
        <p:spPr>
          <a:xfrm>
            <a:off x="6489700" y="1743075"/>
            <a:ext cx="187325" cy="279400"/>
          </a:xfrm>
          <a:custGeom>
            <a:avLst/>
            <a:gdLst>
              <a:gd name="connsiteX0" fmla="*/ 187325 w 187325"/>
              <a:gd name="connsiteY0" fmla="*/ 0 h 279400"/>
              <a:gd name="connsiteX1" fmla="*/ 95250 w 187325"/>
              <a:gd name="connsiteY1" fmla="*/ 165100 h 279400"/>
              <a:gd name="connsiteX2" fmla="*/ 25400 w 187325"/>
              <a:gd name="connsiteY2" fmla="*/ 241300 h 279400"/>
              <a:gd name="connsiteX3" fmla="*/ 0 w 187325"/>
              <a:gd name="connsiteY3" fmla="*/ 279400 h 27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325" h="279400">
                <a:moveTo>
                  <a:pt x="187325" y="0"/>
                </a:moveTo>
                <a:cubicBezTo>
                  <a:pt x="154781" y="62441"/>
                  <a:pt x="122237" y="124883"/>
                  <a:pt x="95250" y="165100"/>
                </a:cubicBezTo>
                <a:cubicBezTo>
                  <a:pt x="68263" y="205317"/>
                  <a:pt x="41275" y="222250"/>
                  <a:pt x="25400" y="241300"/>
                </a:cubicBezTo>
                <a:cubicBezTo>
                  <a:pt x="9525" y="260350"/>
                  <a:pt x="4762" y="269875"/>
                  <a:pt x="0" y="2794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圆角矩形 118"/>
          <p:cNvSpPr/>
          <p:nvPr/>
        </p:nvSpPr>
        <p:spPr>
          <a:xfrm>
            <a:off x="5528835" y="2470205"/>
            <a:ext cx="3191288" cy="1102353"/>
          </a:xfrm>
          <a:prstGeom prst="roundRect">
            <a:avLst>
              <a:gd name="adj" fmla="val 7215"/>
            </a:avLst>
          </a:prstGeom>
          <a:solidFill>
            <a:srgbClr val="F5F3FF"/>
          </a:solidFill>
          <a:ln>
            <a:solidFill>
              <a:srgbClr val="48A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文本框 121"/>
          <p:cNvSpPr txBox="1"/>
          <p:nvPr/>
        </p:nvSpPr>
        <p:spPr>
          <a:xfrm>
            <a:off x="5767219" y="2516145"/>
            <a:ext cx="23285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本体安全防护（</a:t>
            </a:r>
            <a:r>
              <a:rPr lang="en-US" altLang="zh-CN" sz="1400" b="1" dirty="0" smtClean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Security</a:t>
            </a:r>
            <a:r>
              <a:rPr lang="zh-CN" altLang="en-US" sz="1400" b="1" dirty="0" smtClean="0">
                <a:solidFill>
                  <a:srgbClr val="2E9482"/>
                </a:solidFill>
                <a:latin typeface="微软雅黑" charset="-122"/>
                <a:ea typeface="微软雅黑" charset="-122"/>
              </a:rPr>
              <a:t>）</a:t>
            </a:r>
            <a:endParaRPr lang="zh-CN" altLang="en-US" sz="1400" b="1" dirty="0">
              <a:solidFill>
                <a:srgbClr val="2E948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3" name="圆角矩形 122"/>
          <p:cNvSpPr/>
          <p:nvPr/>
        </p:nvSpPr>
        <p:spPr>
          <a:xfrm>
            <a:off x="5668770" y="2919228"/>
            <a:ext cx="1470556" cy="598707"/>
          </a:xfrm>
          <a:prstGeom prst="roundRect">
            <a:avLst>
              <a:gd name="adj" fmla="val 10337"/>
            </a:avLst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规则定义</a:t>
            </a:r>
            <a:endParaRPr lang="en-US" altLang="zh-CN" sz="1200" b="1" dirty="0" smtClean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algn="ctr"/>
            <a:endParaRPr lang="en-US" altLang="zh-CN" sz="800" dirty="0" smtClean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800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Row-level security</a:t>
            </a:r>
            <a:endParaRPr lang="en-US" altLang="zh-CN" sz="800" dirty="0" smtClean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800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Column-level security</a:t>
            </a:r>
          </a:p>
        </p:txBody>
      </p:sp>
      <p:sp>
        <p:nvSpPr>
          <p:cNvPr id="124" name="圆角矩形 123"/>
          <p:cNvSpPr/>
          <p:nvPr/>
        </p:nvSpPr>
        <p:spPr>
          <a:xfrm>
            <a:off x="7274731" y="2919227"/>
            <a:ext cx="1373635" cy="598707"/>
          </a:xfrm>
          <a:prstGeom prst="roundRect">
            <a:avLst>
              <a:gd name="adj" fmla="val 10337"/>
            </a:avLst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访问控制</a:t>
            </a:r>
            <a:endParaRPr lang="en-US" altLang="zh-CN" sz="1200" b="1" dirty="0" smtClean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algn="ctr"/>
            <a:endParaRPr lang="en-US" altLang="zh-CN" sz="800" dirty="0" smtClean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脱敏</a:t>
            </a:r>
            <a:r>
              <a:rPr lang="en-US" altLang="zh-CN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/</a:t>
            </a:r>
            <a:r>
              <a:rPr lang="zh-CN" altLang="en-US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隔离</a:t>
            </a:r>
            <a:endParaRPr lang="en-US" altLang="zh-CN" sz="800" dirty="0" smtClean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审计</a:t>
            </a:r>
            <a:r>
              <a:rPr lang="en-US" altLang="zh-CN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/</a:t>
            </a:r>
            <a:r>
              <a:rPr lang="zh-CN" altLang="en-US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入侵检测</a:t>
            </a:r>
            <a:r>
              <a:rPr lang="en-US" altLang="zh-CN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/</a:t>
            </a:r>
            <a:r>
              <a:rPr lang="zh-CN" altLang="en-US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报警</a:t>
            </a:r>
            <a:endParaRPr lang="en-US" altLang="zh-CN" sz="800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5" name="椭圆 124"/>
          <p:cNvSpPr/>
          <p:nvPr/>
        </p:nvSpPr>
        <p:spPr>
          <a:xfrm>
            <a:off x="3119938" y="2522652"/>
            <a:ext cx="342240" cy="312403"/>
          </a:xfrm>
          <a:prstGeom prst="ellipse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1</a:t>
            </a:r>
            <a:endParaRPr lang="zh-CN" altLang="en-US" sz="1600" dirty="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126" name="椭圆 125"/>
          <p:cNvSpPr/>
          <p:nvPr/>
        </p:nvSpPr>
        <p:spPr>
          <a:xfrm>
            <a:off x="7899858" y="2506079"/>
            <a:ext cx="342240" cy="312403"/>
          </a:xfrm>
          <a:prstGeom prst="ellipse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2</a:t>
            </a:r>
            <a:endParaRPr lang="zh-CN" altLang="en-US" sz="1600" dirty="0">
              <a:latin typeface="微软雅黑" charset="0"/>
              <a:ea typeface="微软雅黑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圆角矩形"/>
          <p:cNvSpPr/>
          <p:nvPr/>
        </p:nvSpPr>
        <p:spPr>
          <a:xfrm>
            <a:off x="9576286" y="1713604"/>
            <a:ext cx="2529342" cy="3771927"/>
          </a:xfrm>
          <a:prstGeom prst="roundRect">
            <a:avLst>
              <a:gd name="adj" fmla="val 1615"/>
            </a:avLst>
          </a:prstGeom>
          <a:solidFill>
            <a:srgbClr val="F7F8FE"/>
          </a:solidFill>
          <a:ln w="12700">
            <a:solidFill>
              <a:srgbClr val="3865DB"/>
            </a:solidFill>
            <a:custDash>
              <a:ds d="200000" sp="200000"/>
            </a:custDash>
            <a:miter lim="400000"/>
          </a:ln>
        </p:spPr>
        <p:txBody>
          <a:bodyPr lIns="36000" tIns="36000" rIns="36000" bIns="36000" anchor="ctr"/>
          <a:lstStyle/>
          <a:p>
            <a:pPr>
              <a:defRPr sz="2800" b="0">
                <a:solidFill>
                  <a:srgbClr val="A7A7A7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 sz="1400" dirty="0">
              <a:latin typeface="微软雅黑" charset="0"/>
              <a:ea typeface="微软雅黑" charset="0"/>
            </a:endParaRPr>
          </a:p>
        </p:txBody>
      </p:sp>
      <p:sp>
        <p:nvSpPr>
          <p:cNvPr id="255" name="圆角矩形"/>
          <p:cNvSpPr/>
          <p:nvPr/>
        </p:nvSpPr>
        <p:spPr>
          <a:xfrm>
            <a:off x="9576286" y="1618355"/>
            <a:ext cx="2529342" cy="469900"/>
          </a:xfrm>
          <a:prstGeom prst="roundRect">
            <a:avLst>
              <a:gd name="adj" fmla="val 12500"/>
            </a:avLst>
          </a:prstGeom>
          <a:solidFill>
            <a:srgbClr val="4364D5"/>
          </a:solidFill>
          <a:ln w="12700">
            <a:solidFill>
              <a:schemeClr val="accent1"/>
            </a:solidFill>
            <a:miter lim="400000"/>
          </a:ln>
        </p:spPr>
        <p:txBody>
          <a:bodyPr lIns="36000" tIns="36000" rIns="36000" bIns="36000" anchor="ctr"/>
          <a:lstStyle/>
          <a:p>
            <a:pPr algn="ctr" defTabSz="1219200">
              <a:defRPr sz="1800" b="0">
                <a:solidFill>
                  <a:srgbClr val="FFFFFF"/>
                </a:solidFill>
              </a:defRPr>
            </a:pPr>
            <a:r>
              <a:rPr lang="zh-CN" altLang="en-US" sz="1600" b="1" dirty="0" smtClean="0">
                <a:latin typeface="微软雅黑" charset="0"/>
                <a:ea typeface="微软雅黑" charset="0"/>
              </a:rPr>
              <a:t>数据生产新</a:t>
            </a:r>
            <a:r>
              <a:rPr lang="zh-CN" altLang="en-US" sz="1600" b="1" dirty="0">
                <a:latin typeface="微软雅黑" charset="0"/>
                <a:ea typeface="微软雅黑" charset="0"/>
              </a:rPr>
              <a:t>框架</a:t>
            </a:r>
          </a:p>
        </p:txBody>
      </p:sp>
      <p:sp>
        <p:nvSpPr>
          <p:cNvPr id="256" name="等腰三角形 255"/>
          <p:cNvSpPr/>
          <p:nvPr/>
        </p:nvSpPr>
        <p:spPr>
          <a:xfrm rot="10800000">
            <a:off x="9631453" y="5515677"/>
            <a:ext cx="2178793" cy="516591"/>
          </a:xfrm>
          <a:prstGeom prst="triangle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257" name="文本框 256"/>
          <p:cNvSpPr txBox="1"/>
          <p:nvPr>
            <p:custDataLst>
              <p:tags r:id="rId1"/>
            </p:custDataLst>
          </p:nvPr>
        </p:nvSpPr>
        <p:spPr>
          <a:xfrm>
            <a:off x="9728659" y="6063094"/>
            <a:ext cx="224599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accent1"/>
                </a:solidFill>
                <a:latin typeface="微软雅黑" charset="0"/>
                <a:ea typeface="微软雅黑" charset="0"/>
              </a:rPr>
              <a:t>模型驱动</a:t>
            </a:r>
            <a:endParaRPr lang="zh-CN" altLang="en-US" b="1" dirty="0">
              <a:solidFill>
                <a:schemeClr val="accent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en-US" altLang="zh-CN" b="1" dirty="0">
                <a:solidFill>
                  <a:schemeClr val="accent1"/>
                </a:solidFill>
                <a:latin typeface="微软雅黑" charset="0"/>
                <a:ea typeface="微软雅黑" charset="0"/>
              </a:rPr>
              <a:t>能力</a:t>
            </a:r>
            <a:r>
              <a:rPr lang="zh-CN" altLang="en-US" b="1" dirty="0">
                <a:solidFill>
                  <a:schemeClr val="accent1"/>
                </a:solidFill>
                <a:latin typeface="微软雅黑" charset="0"/>
                <a:ea typeface="微软雅黑" charset="0"/>
              </a:rPr>
              <a:t>生产的快速构建</a:t>
            </a:r>
          </a:p>
        </p:txBody>
      </p:sp>
      <p:sp>
        <p:nvSpPr>
          <p:cNvPr id="277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2555" dirty="0" smtClean="0">
                <a:latin typeface="微软雅黑" charset="0"/>
                <a:ea typeface="微软雅黑" charset="0"/>
                <a:cs typeface="微软雅黑" charset="0"/>
                <a:sym typeface="+mn-ea"/>
              </a:rPr>
              <a:t>基于本体新范式重构</a:t>
            </a:r>
            <a:r>
              <a:rPr lang="en-US" altLang="zh-CN" sz="2555" dirty="0" smtClean="0"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2555" dirty="0" smtClean="0">
                <a:latin typeface="微软雅黑" charset="0"/>
                <a:ea typeface="微软雅黑" charset="0"/>
                <a:cs typeface="微软雅黑" charset="0"/>
                <a:sym typeface="+mn-ea"/>
              </a:rPr>
              <a:t>时代数据</a:t>
            </a:r>
            <a:r>
              <a:rPr lang="zh-CN" altLang="en-US" sz="2555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生产新框架的</a:t>
            </a:r>
            <a:r>
              <a:rPr lang="zh-CN" altLang="en-US" sz="2555" dirty="0" smtClean="0">
                <a:latin typeface="微软雅黑" charset="0"/>
                <a:ea typeface="微软雅黑" charset="0"/>
                <a:cs typeface="微软雅黑" charset="0"/>
                <a:sym typeface="+mn-ea"/>
              </a:rPr>
              <a:t>能力</a:t>
            </a:r>
            <a:endParaRPr lang="en-US" altLang="zh-CN" sz="2445" dirty="0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278" name="矩形 277"/>
          <p:cNvSpPr/>
          <p:nvPr>
            <p:custDataLst>
              <p:tags r:id="rId2"/>
            </p:custDataLst>
          </p:nvPr>
        </p:nvSpPr>
        <p:spPr>
          <a:xfrm>
            <a:off x="306705" y="931545"/>
            <a:ext cx="11742420" cy="5994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lvl="0" indent="0" algn="l">
              <a:lnSpc>
                <a:spcPct val="11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面向跨域数据语义不通、</a:t>
            </a:r>
            <a:r>
              <a:rPr lang="en-US" altLang="zh-CN" sz="1600" dirty="0" smtClean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用数未结合语义导致幻觉高、</a:t>
            </a: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大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模型取数未确权的</a:t>
            </a: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痛点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，基于</a:t>
            </a:r>
            <a:r>
              <a:rPr lang="zh-CN" altLang="en-US" sz="1600" b="1" dirty="0" smtClean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本体模型和安全防护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重塑数据生产新架构，以</a:t>
            </a:r>
            <a:r>
              <a:rPr lang="zh-CN" altLang="en-US" sz="1600" b="1" dirty="0" smtClean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建、采、管、用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的全周期技术手段，打通</a:t>
            </a:r>
            <a:r>
              <a:rPr lang="en-US" altLang="zh-CN" sz="1600" dirty="0" smtClean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与业务数据，形成</a:t>
            </a: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能力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sym typeface="+mn-ea"/>
              </a:rPr>
              <a:t>模型</a:t>
            </a:r>
            <a:r>
              <a:rPr lang="en-US" altLang="zh-CN" sz="1600" dirty="0" err="1" smtClean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驱动下的Data</a:t>
            </a:r>
            <a:r>
              <a:rPr lang="en-US" altLang="zh-CN" sz="1600" dirty="0" smtClean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sym typeface="+mn-ea"/>
              </a:rPr>
              <a:t> For AI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及</a:t>
            </a:r>
            <a:r>
              <a:rPr lang="en-US" altLang="zh-CN" sz="1600" dirty="0" smtClean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sym typeface="+mn-ea"/>
              </a:rPr>
              <a:t>AI For Data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sym typeface="+mn-ea"/>
              </a:rPr>
              <a:t>新范式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。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208" name="图片 20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3941" y="1690193"/>
            <a:ext cx="563165" cy="4951311"/>
          </a:xfrm>
          <a:prstGeom prst="rect">
            <a:avLst/>
          </a:prstGeom>
        </p:spPr>
      </p:pic>
      <p:sp>
        <p:nvSpPr>
          <p:cNvPr id="250" name="文本框 249"/>
          <p:cNvSpPr txBox="1"/>
          <p:nvPr>
            <p:custDataLst>
              <p:tags r:id="rId3"/>
            </p:custDataLst>
          </p:nvPr>
        </p:nvSpPr>
        <p:spPr>
          <a:xfrm>
            <a:off x="9518536" y="2079518"/>
            <a:ext cx="2625354" cy="3321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  <a:defRPr/>
            </a:pPr>
            <a:r>
              <a:rPr kumimoji="1" lang="zh-CN" altLang="en-US" sz="1600" b="1" dirty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打通数据</a:t>
            </a:r>
            <a:r>
              <a:rPr kumimoji="1" lang="zh-CN" altLang="en-US" sz="1600" b="1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沟壑</a:t>
            </a:r>
            <a:endParaRPr kumimoji="1" lang="zh-CN" altLang="en-US" sz="1600" b="1" dirty="0" smtClean="0">
              <a:solidFill>
                <a:prstClr val="black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0" indent="457200">
              <a:lnSpc>
                <a:spcPct val="150000"/>
              </a:lnSpc>
              <a:defRPr/>
            </a:pPr>
            <a:r>
              <a:rPr kumimoji="1" lang="zh-CN" altLang="en-US" sz="12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</a:rPr>
              <a:t>基于本体技术，实现跨域数据按模型融合</a:t>
            </a:r>
            <a:r>
              <a:rPr kumimoji="1" lang="en-US" altLang="zh-CN" sz="1200" dirty="0" err="1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</a:rPr>
              <a:t>构建资产元数据的能力</a:t>
            </a:r>
            <a:r>
              <a:rPr kumimoji="1" lang="en-US" altLang="zh-CN" sz="12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kumimoji="1" lang="en-US" altLang="zh-CN" sz="1200" dirty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kumimoji="1" lang="zh-CN" altLang="en-US" sz="1200" b="1" dirty="0" smtClean="0">
              <a:solidFill>
                <a:prstClr val="black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kumimoji="1" lang="en-US" altLang="zh-CN" sz="1600" b="1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</a:rPr>
              <a:t>Data For AI</a:t>
            </a:r>
            <a:r>
              <a:rPr kumimoji="1" lang="zh-CN" altLang="en-US" sz="1600" b="1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</a:rPr>
              <a:t>及</a:t>
            </a:r>
            <a:r>
              <a:rPr kumimoji="1" lang="en-US" altLang="zh-CN" sz="1600" b="1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</a:rPr>
              <a:t>AI For Data</a:t>
            </a:r>
            <a:endParaRPr kumimoji="1" lang="zh-CN" altLang="en-US" sz="1600" b="1" dirty="0">
              <a:solidFill>
                <a:prstClr val="black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1" lang="zh-CN" altLang="en-US" sz="12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通过本体语义，构建</a:t>
            </a:r>
            <a:r>
              <a:rPr kumimoji="1" lang="en-US" altLang="zh-CN" sz="12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kumimoji="1" lang="zh-CN" altLang="en-US" sz="1200" dirty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用</a:t>
            </a:r>
            <a:r>
              <a:rPr kumimoji="1" lang="zh-CN" altLang="en-US" sz="12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数通路，打通</a:t>
            </a:r>
            <a:r>
              <a:rPr kumimoji="1" lang="en-US" altLang="zh-CN" sz="12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kumimoji="1" lang="zh-CN" altLang="en-US" sz="12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与业务数据，并基于</a:t>
            </a:r>
            <a:r>
              <a:rPr kumimoji="1" lang="en-US" altLang="zh-CN" sz="12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kumimoji="1" lang="zh-CN" altLang="en-US" sz="12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升级数据集成</a:t>
            </a:r>
            <a:r>
              <a:rPr kumimoji="1" lang="zh-CN" altLang="en-US" sz="1200" dirty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、</a:t>
            </a:r>
            <a:r>
              <a:rPr kumimoji="1" lang="zh-CN" altLang="en-US" sz="12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融合与治理的能力；</a:t>
            </a:r>
            <a:endParaRPr kumimoji="1" lang="zh-CN" altLang="en-US" sz="1200" dirty="0">
              <a:solidFill>
                <a:prstClr val="black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kumimoji="1" lang="zh-CN" altLang="en-US" sz="1600" b="1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守护数据安全</a:t>
            </a:r>
            <a:endParaRPr kumimoji="1" lang="en-US" altLang="zh-CN" sz="1600" dirty="0">
              <a:solidFill>
                <a:prstClr val="black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1" lang="zh-CN" altLang="en-US" sz="1200" dirty="0" smtClean="0">
                <a:solidFill>
                  <a:prstClr val="black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以确权语义为基础，实现数据授权和裁决，确保用数安全。</a:t>
            </a:r>
            <a:endParaRPr kumimoji="1" lang="en-US" altLang="zh-CN" sz="1200" dirty="0">
              <a:solidFill>
                <a:prstClr val="black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0" name="文本框 259"/>
          <p:cNvSpPr txBox="1"/>
          <p:nvPr>
            <p:custDataLst>
              <p:tags r:id="rId4"/>
            </p:custDataLst>
          </p:nvPr>
        </p:nvSpPr>
        <p:spPr>
          <a:xfrm>
            <a:off x="10517333" y="5599811"/>
            <a:ext cx="53975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1"/>
                </a:solidFill>
                <a:latin typeface="微软雅黑" charset="0"/>
                <a:ea typeface="微软雅黑" charset="0"/>
              </a:rPr>
              <a:t>支撑</a:t>
            </a:r>
          </a:p>
        </p:txBody>
      </p:sp>
      <p:pic>
        <p:nvPicPr>
          <p:cNvPr id="140" name="图片 13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4709" y="2699861"/>
            <a:ext cx="532101" cy="3862070"/>
          </a:xfrm>
          <a:prstGeom prst="rect">
            <a:avLst/>
          </a:prstGeom>
        </p:spPr>
      </p:pic>
      <p:sp>
        <p:nvSpPr>
          <p:cNvPr id="174" name="圆角矩形 173"/>
          <p:cNvSpPr/>
          <p:nvPr/>
        </p:nvSpPr>
        <p:spPr>
          <a:xfrm>
            <a:off x="139702" y="1641763"/>
            <a:ext cx="8899446" cy="972867"/>
          </a:xfrm>
          <a:prstGeom prst="roundRect">
            <a:avLst>
              <a:gd name="adj" fmla="val 8605"/>
            </a:avLst>
          </a:prstGeom>
          <a:solidFill>
            <a:schemeClr val="accent5"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ctr"/>
            <a:r>
              <a:rPr kumimoji="1" lang="zh-CN" altLang="zh-CN" sz="1400" b="1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以家庭用户燃气设备故障解除场景为例</a:t>
            </a:r>
            <a:endParaRPr lang="zh-CN" altLang="zh-CN" sz="1400" dirty="0">
              <a:effectLst/>
            </a:endParaRPr>
          </a:p>
        </p:txBody>
      </p:sp>
      <p:sp>
        <p:nvSpPr>
          <p:cNvPr id="175" name="文本框 174"/>
          <p:cNvSpPr txBox="1"/>
          <p:nvPr>
            <p:custDataLst>
              <p:tags r:id="rId5"/>
            </p:custDataLst>
          </p:nvPr>
        </p:nvSpPr>
        <p:spPr>
          <a:xfrm>
            <a:off x="3284029" y="1960023"/>
            <a:ext cx="2760125" cy="59499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171450" indent="-171450">
              <a:buChar char="•"/>
            </a:pPr>
            <a:r>
              <a:rPr lang="zh-CN" altLang="en-US" sz="1200" dirty="0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分析故障现象（熄火</a:t>
            </a:r>
            <a:r>
              <a:rPr lang="en-US" altLang="zh-CN" sz="1200" dirty="0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/</a:t>
            </a:r>
            <a:r>
              <a:rPr lang="zh-CN" altLang="en-US" sz="1200" dirty="0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压力异常等）</a:t>
            </a:r>
          </a:p>
          <a:p>
            <a:pPr marL="171450" indent="-171450">
              <a:buChar char="•"/>
            </a:pPr>
            <a:r>
              <a:rPr lang="zh-CN" altLang="en-US" sz="1200" dirty="0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诊断故障</a:t>
            </a:r>
            <a:r>
              <a:rPr lang="zh-CN" altLang="en-US" sz="1200" dirty="0" smtClean="0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原因（未缴费</a:t>
            </a:r>
            <a:r>
              <a:rPr lang="en-US" altLang="zh-CN" sz="1200" dirty="0" smtClean="0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/</a:t>
            </a:r>
            <a:r>
              <a:rPr lang="zh-CN" altLang="en-US" sz="1200" dirty="0" smtClean="0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设备损坏等）</a:t>
            </a:r>
            <a:endParaRPr lang="zh-CN" altLang="en-US" sz="1200" dirty="0">
              <a:solidFill>
                <a:srgbClr val="FFFFFF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marL="171450" indent="-171450">
              <a:buChar char="•"/>
            </a:pPr>
            <a:r>
              <a:rPr lang="zh-CN" altLang="en-US" sz="1200" dirty="0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提供解决方案（自处理</a:t>
            </a:r>
            <a:r>
              <a:rPr lang="en-US" altLang="zh-CN" sz="1200" dirty="0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/</a:t>
            </a:r>
            <a:r>
              <a:rPr lang="zh-CN" altLang="en-US" sz="1200" dirty="0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师傅上门）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161081" y="2716260"/>
            <a:ext cx="2557736" cy="397236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pPr algn="ctr"/>
            <a:endParaRPr kumimoji="1" lang="zh-CN" altLang="en-US" sz="1400" b="1" dirty="0">
              <a:latin typeface="微软雅黑" charset="-122"/>
              <a:ea typeface="微软雅黑" charset="-122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291468" y="4265390"/>
            <a:ext cx="2344572" cy="687283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100" dirty="0" smtClean="0">
                <a:latin typeface="微软雅黑" charset="-122"/>
                <a:ea typeface="微软雅黑" charset="-122"/>
              </a:rPr>
              <a:t>支撑</a:t>
            </a:r>
            <a:r>
              <a:rPr lang="en-US" altLang="zh-CN" sz="1100" dirty="0" smtClean="0">
                <a:latin typeface="微软雅黑" charset="-122"/>
                <a:ea typeface="微软雅黑" charset="-122"/>
              </a:rPr>
              <a:t>AI</a:t>
            </a:r>
            <a:r>
              <a:rPr lang="zh-CN" altLang="en-US" sz="1100" dirty="0" smtClean="0">
                <a:latin typeface="微软雅黑" charset="-122"/>
                <a:ea typeface="微软雅黑" charset="-122"/>
              </a:rPr>
              <a:t>用数的工具</a:t>
            </a:r>
            <a:endParaRPr lang="en-US" altLang="zh-CN" sz="1100" dirty="0">
              <a:latin typeface="微软雅黑" charset="-122"/>
              <a:ea typeface="微软雅黑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1468" y="5658351"/>
            <a:ext cx="2344572" cy="876609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 err="1">
                <a:solidFill>
                  <a:srgbClr val="CFD8DC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多张散乱数据表（RAW</a:t>
            </a:r>
            <a:r>
              <a:rPr lang="en-US" altLang="zh-CN" sz="1100" dirty="0">
                <a:solidFill>
                  <a:srgbClr val="CFD8DC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 Tables</a:t>
            </a:r>
            <a:r>
              <a:rPr lang="en-US" altLang="zh-CN" sz="1100" dirty="0" smtClean="0">
                <a:solidFill>
                  <a:srgbClr val="CFD8DC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）</a:t>
            </a:r>
          </a:p>
          <a:p>
            <a:pPr algn="ctr"/>
            <a:r>
              <a:rPr lang="en-US" altLang="zh-CN" sz="1100" dirty="0" smtClean="0">
                <a:solidFill>
                  <a:srgbClr val="CFD8DC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  </a:t>
            </a:r>
            <a:r>
              <a:rPr lang="en-US" altLang="zh-CN" sz="1100" dirty="0" err="1">
                <a:solidFill>
                  <a:srgbClr val="CFD8DC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格式各异，</a:t>
            </a:r>
            <a:r>
              <a:rPr lang="en-US" altLang="zh-CN" sz="1100" dirty="0" err="1" smtClean="0">
                <a:solidFill>
                  <a:srgbClr val="CFD8DC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无统一语义</a:t>
            </a:r>
            <a:endParaRPr lang="en-US" altLang="zh-CN" sz="1100" dirty="0">
              <a:latin typeface="微软雅黑" charset="-122"/>
              <a:ea typeface="微软雅黑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9106" y="2790758"/>
            <a:ext cx="1775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err="1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</a:t>
            </a:r>
            <a:r>
              <a:rPr lang="en-US" altLang="zh-CN" b="1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AI </a:t>
            </a:r>
            <a:r>
              <a:rPr lang="en-US" altLang="zh-CN" b="1" dirty="0" err="1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用数方案</a:t>
            </a:r>
            <a:endParaRPr lang="en-US" altLang="zh-CN" dirty="0"/>
          </a:p>
        </p:txBody>
      </p:sp>
      <p:sp>
        <p:nvSpPr>
          <p:cNvPr id="17" name="圆角矩形 16"/>
          <p:cNvSpPr/>
          <p:nvPr/>
        </p:nvSpPr>
        <p:spPr>
          <a:xfrm>
            <a:off x="302685" y="3263487"/>
            <a:ext cx="2344572" cy="3758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ECEFF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</a:t>
            </a:r>
            <a:r>
              <a:rPr lang="en-US" altLang="zh-CN" sz="1400" b="1" dirty="0" smtClean="0">
                <a:solidFill>
                  <a:srgbClr val="ECEFF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</a:t>
            </a:r>
            <a:endParaRPr lang="en-US" altLang="zh-CN" sz="1400" dirty="0"/>
          </a:p>
        </p:txBody>
      </p:sp>
      <p:sp>
        <p:nvSpPr>
          <p:cNvPr id="19" name="圆角矩形 18"/>
          <p:cNvSpPr/>
          <p:nvPr/>
        </p:nvSpPr>
        <p:spPr>
          <a:xfrm>
            <a:off x="325706" y="4548742"/>
            <a:ext cx="718394" cy="2902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NL2SQL</a:t>
            </a:r>
            <a:endParaRPr lang="zh-CN" altLang="en-US" sz="800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3" name="圆角矩形 152"/>
          <p:cNvSpPr/>
          <p:nvPr/>
        </p:nvSpPr>
        <p:spPr>
          <a:xfrm>
            <a:off x="2030258" y="4548680"/>
            <a:ext cx="522469" cy="2902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MCP</a:t>
            </a:r>
            <a:endParaRPr lang="zh-CN" altLang="en-US" sz="800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4" name="圆角矩形 153"/>
          <p:cNvSpPr/>
          <p:nvPr/>
        </p:nvSpPr>
        <p:spPr>
          <a:xfrm>
            <a:off x="1150936" y="4548680"/>
            <a:ext cx="751049" cy="2902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Rest API</a:t>
            </a:r>
            <a:endParaRPr lang="zh-CN" altLang="en-US" sz="800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7" name="矩形标注 156"/>
          <p:cNvSpPr/>
          <p:nvPr/>
        </p:nvSpPr>
        <p:spPr>
          <a:xfrm>
            <a:off x="240339" y="5152679"/>
            <a:ext cx="1145812" cy="351607"/>
          </a:xfrm>
          <a:prstGeom prst="wedgeRectCallout">
            <a:avLst>
              <a:gd name="adj1" fmla="val 33889"/>
              <a:gd name="adj2" fmla="val -127448"/>
            </a:avLst>
          </a:prstGeom>
          <a:ln>
            <a:solidFill>
              <a:schemeClr val="accent2"/>
            </a:solidFill>
          </a:ln>
        </p:spPr>
        <p:style>
          <a:lnRef idx="3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    取</a:t>
            </a:r>
            <a:r>
              <a:rPr lang="zh-CN" altLang="en-US" sz="12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数未确权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340" y="5152679"/>
            <a:ext cx="289033" cy="35847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502" y="3793355"/>
            <a:ext cx="302925" cy="290931"/>
          </a:xfrm>
          <a:prstGeom prst="rect">
            <a:avLst/>
          </a:prstGeom>
        </p:spPr>
      </p:pic>
      <p:sp>
        <p:nvSpPr>
          <p:cNvPr id="176" name="流程图: 磁盘 175"/>
          <p:cNvSpPr/>
          <p:nvPr/>
        </p:nvSpPr>
        <p:spPr>
          <a:xfrm>
            <a:off x="333897" y="6096179"/>
            <a:ext cx="664249" cy="390425"/>
          </a:xfrm>
          <a:prstGeom prst="flowChartMagneticDisk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800" dirty="0" smtClean="0">
                <a:latin typeface="微软雅黑" charset="-122"/>
                <a:ea typeface="微软雅黑" charset="-122"/>
              </a:rPr>
              <a:t>SAP - </a:t>
            </a:r>
            <a:r>
              <a:rPr lang="zh-CN" altLang="en-US" sz="800" dirty="0" smtClean="0">
                <a:latin typeface="微软雅黑" charset="-122"/>
                <a:ea typeface="微软雅黑" charset="-122"/>
              </a:rPr>
              <a:t>房产</a:t>
            </a:r>
            <a:r>
              <a:rPr lang="zh-CN" altLang="en-US" sz="800" dirty="0">
                <a:latin typeface="微软雅黑" charset="-122"/>
                <a:ea typeface="微软雅黑" charset="-122"/>
              </a:rPr>
              <a:t>信息</a:t>
            </a:r>
            <a:endParaRPr lang="en-US" altLang="zh-CN" sz="800" dirty="0">
              <a:latin typeface="微软雅黑" charset="-122"/>
              <a:ea typeface="微软雅黑" charset="-122"/>
            </a:endParaRPr>
          </a:p>
        </p:txBody>
      </p:sp>
      <p:sp>
        <p:nvSpPr>
          <p:cNvPr id="177" name="流程图: 磁盘 176"/>
          <p:cNvSpPr/>
          <p:nvPr/>
        </p:nvSpPr>
        <p:spPr>
          <a:xfrm>
            <a:off x="1056713" y="6096179"/>
            <a:ext cx="665468" cy="390425"/>
          </a:xfrm>
          <a:prstGeom prst="flowChartMagneticDisk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latin typeface="微软雅黑" charset="-122"/>
                <a:ea typeface="微软雅黑" charset="-122"/>
              </a:rPr>
              <a:t>IOT</a:t>
            </a:r>
            <a:r>
              <a:rPr lang="en-US" altLang="zh-CN" sz="800" dirty="0" smtClean="0">
                <a:latin typeface="微软雅黑" charset="-122"/>
                <a:ea typeface="微软雅黑" charset="-122"/>
              </a:rPr>
              <a:t> – </a:t>
            </a:r>
            <a:r>
              <a:rPr lang="zh-CN" altLang="en-US" sz="800" dirty="0" smtClean="0">
                <a:latin typeface="微软雅黑" charset="-122"/>
                <a:ea typeface="微软雅黑" charset="-122"/>
              </a:rPr>
              <a:t>用气数据</a:t>
            </a:r>
            <a:endParaRPr lang="en-US" altLang="zh-CN" sz="800" dirty="0">
              <a:latin typeface="微软雅黑" charset="-122"/>
              <a:ea typeface="微软雅黑" charset="-122"/>
            </a:endParaRPr>
          </a:p>
        </p:txBody>
      </p:sp>
      <p:sp>
        <p:nvSpPr>
          <p:cNvPr id="178" name="流程图: 磁盘 177"/>
          <p:cNvSpPr/>
          <p:nvPr/>
        </p:nvSpPr>
        <p:spPr>
          <a:xfrm>
            <a:off x="1741993" y="6107133"/>
            <a:ext cx="861291" cy="390425"/>
          </a:xfrm>
          <a:prstGeom prst="flowChartMagneticDisk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800" dirty="0" smtClean="0">
                <a:latin typeface="微软雅黑" charset="-122"/>
                <a:ea typeface="微软雅黑" charset="-122"/>
              </a:rPr>
              <a:t>ECEJ - </a:t>
            </a:r>
            <a:r>
              <a:rPr lang="zh-CN" altLang="en-US" sz="800" dirty="0" smtClean="0">
                <a:latin typeface="微软雅黑" charset="-122"/>
                <a:ea typeface="微软雅黑" charset="-122"/>
              </a:rPr>
              <a:t>用户、客</a:t>
            </a:r>
            <a:r>
              <a:rPr lang="zh-CN" altLang="en-US" sz="800" dirty="0">
                <a:latin typeface="微软雅黑" charset="-122"/>
                <a:ea typeface="微软雅黑" charset="-122"/>
              </a:rPr>
              <a:t>服数据</a:t>
            </a:r>
            <a:endParaRPr lang="en-US" altLang="zh-CN" sz="800" dirty="0">
              <a:latin typeface="微软雅黑" charset="-122"/>
              <a:ea typeface="微软雅黑" charset="-122"/>
            </a:endParaRPr>
          </a:p>
        </p:txBody>
      </p:sp>
      <p:sp>
        <p:nvSpPr>
          <p:cNvPr id="29" name="上箭头 28"/>
          <p:cNvSpPr/>
          <p:nvPr/>
        </p:nvSpPr>
        <p:spPr>
          <a:xfrm>
            <a:off x="1389292" y="3748031"/>
            <a:ext cx="389031" cy="383809"/>
          </a:xfrm>
          <a:prstGeom prst="up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上箭头 187"/>
          <p:cNvSpPr/>
          <p:nvPr/>
        </p:nvSpPr>
        <p:spPr>
          <a:xfrm>
            <a:off x="1380103" y="5081615"/>
            <a:ext cx="389031" cy="383809"/>
          </a:xfrm>
          <a:prstGeom prst="up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标注 158"/>
          <p:cNvSpPr/>
          <p:nvPr/>
        </p:nvSpPr>
        <p:spPr>
          <a:xfrm>
            <a:off x="311184" y="3786485"/>
            <a:ext cx="1413472" cy="348392"/>
          </a:xfrm>
          <a:prstGeom prst="wedgeRectCallout">
            <a:avLst>
              <a:gd name="adj1" fmla="val 30864"/>
              <a:gd name="adj2" fmla="val -105576"/>
            </a:avLst>
          </a:prstGeom>
          <a:ln>
            <a:solidFill>
              <a:schemeClr val="accent2"/>
            </a:solidFill>
          </a:ln>
        </p:spPr>
        <p:style>
          <a:lnRef idx="3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     未</a:t>
            </a:r>
            <a:r>
              <a:rPr lang="zh-CN" altLang="en-US" sz="12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结合语义导致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幻觉高</a:t>
            </a:r>
            <a:endParaRPr lang="zh-CN" altLang="en-US" sz="120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9" name="乘号 148"/>
          <p:cNvSpPr/>
          <p:nvPr/>
        </p:nvSpPr>
        <p:spPr>
          <a:xfrm>
            <a:off x="1556789" y="4991898"/>
            <a:ext cx="382055" cy="519803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矩形标注 164"/>
          <p:cNvSpPr/>
          <p:nvPr/>
        </p:nvSpPr>
        <p:spPr>
          <a:xfrm>
            <a:off x="1556790" y="5069445"/>
            <a:ext cx="1182173" cy="408150"/>
          </a:xfrm>
          <a:prstGeom prst="wedgeRectCallout">
            <a:avLst>
              <a:gd name="adj1" fmla="val 13721"/>
              <a:gd name="adj2" fmla="val 96384"/>
            </a:avLst>
          </a:prstGeom>
          <a:ln>
            <a:solidFill>
              <a:schemeClr val="accent2"/>
            </a:solidFill>
          </a:ln>
        </p:spPr>
        <p:style>
          <a:lnRef idx="3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      跨</a:t>
            </a:r>
            <a:r>
              <a:rPr lang="zh-CN" altLang="en-US" sz="12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域数据语义不通</a:t>
            </a:r>
          </a:p>
        </p:txBody>
      </p:sp>
      <p:sp>
        <p:nvSpPr>
          <p:cNvPr id="190" name="文本框 189"/>
          <p:cNvSpPr txBox="1"/>
          <p:nvPr/>
        </p:nvSpPr>
        <p:spPr>
          <a:xfrm>
            <a:off x="3244294" y="2716260"/>
            <a:ext cx="5794854" cy="3972369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1400" b="1" dirty="0"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97" name="矩形 196"/>
          <p:cNvSpPr/>
          <p:nvPr/>
        </p:nvSpPr>
        <p:spPr>
          <a:xfrm>
            <a:off x="3332275" y="6198043"/>
            <a:ext cx="5617271" cy="467867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sz="1100" dirty="0">
              <a:latin typeface="微软雅黑" charset="-122"/>
              <a:ea typeface="微软雅黑" charset="-122"/>
            </a:endParaRPr>
          </a:p>
        </p:txBody>
      </p:sp>
      <p:sp>
        <p:nvSpPr>
          <p:cNvPr id="191" name="圆角矩形 190"/>
          <p:cNvSpPr/>
          <p:nvPr/>
        </p:nvSpPr>
        <p:spPr>
          <a:xfrm>
            <a:off x="3332275" y="3123710"/>
            <a:ext cx="5617271" cy="3906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ECEFF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</a:t>
            </a:r>
            <a:r>
              <a:rPr lang="en-US" altLang="zh-CN" sz="1400" b="1" dirty="0" smtClean="0">
                <a:solidFill>
                  <a:srgbClr val="ECEFF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</a:t>
            </a:r>
            <a:endParaRPr lang="en-US" altLang="zh-CN" sz="1400" dirty="0"/>
          </a:p>
        </p:txBody>
      </p:sp>
      <p:sp>
        <p:nvSpPr>
          <p:cNvPr id="192" name="流程图: 磁盘 191"/>
          <p:cNvSpPr/>
          <p:nvPr/>
        </p:nvSpPr>
        <p:spPr>
          <a:xfrm>
            <a:off x="4465369" y="6232962"/>
            <a:ext cx="718720" cy="390425"/>
          </a:xfrm>
          <a:prstGeom prst="flowChartMagneticDisk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800" dirty="0" smtClean="0">
                <a:latin typeface="微软雅黑" charset="-122"/>
                <a:ea typeface="微软雅黑" charset="-122"/>
              </a:rPr>
              <a:t>SAP - </a:t>
            </a:r>
            <a:r>
              <a:rPr lang="zh-CN" altLang="en-US" sz="800" dirty="0" smtClean="0">
                <a:latin typeface="微软雅黑" charset="-122"/>
                <a:ea typeface="微软雅黑" charset="-122"/>
              </a:rPr>
              <a:t>房产</a:t>
            </a:r>
            <a:r>
              <a:rPr lang="zh-CN" altLang="en-US" sz="800" dirty="0">
                <a:latin typeface="微软雅黑" charset="-122"/>
                <a:ea typeface="微软雅黑" charset="-122"/>
              </a:rPr>
              <a:t>信息</a:t>
            </a:r>
            <a:endParaRPr lang="en-US" altLang="zh-CN" sz="800" dirty="0">
              <a:latin typeface="微软雅黑" charset="-122"/>
              <a:ea typeface="微软雅黑" charset="-122"/>
            </a:endParaRPr>
          </a:p>
        </p:txBody>
      </p:sp>
      <p:sp>
        <p:nvSpPr>
          <p:cNvPr id="193" name="流程图: 磁盘 192"/>
          <p:cNvSpPr/>
          <p:nvPr/>
        </p:nvSpPr>
        <p:spPr>
          <a:xfrm>
            <a:off x="5921657" y="6232962"/>
            <a:ext cx="720039" cy="390425"/>
          </a:xfrm>
          <a:prstGeom prst="flowChartMagneticDisk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latin typeface="微软雅黑" charset="-122"/>
                <a:ea typeface="微软雅黑" charset="-122"/>
              </a:rPr>
              <a:t>IOT</a:t>
            </a:r>
            <a:r>
              <a:rPr lang="en-US" altLang="zh-CN" sz="800" dirty="0" smtClean="0">
                <a:latin typeface="微软雅黑" charset="-122"/>
                <a:ea typeface="微软雅黑" charset="-122"/>
              </a:rPr>
              <a:t> – </a:t>
            </a:r>
            <a:r>
              <a:rPr lang="zh-CN" altLang="en-US" sz="800" dirty="0" smtClean="0">
                <a:latin typeface="微软雅黑" charset="-122"/>
                <a:ea typeface="微软雅黑" charset="-122"/>
              </a:rPr>
              <a:t>用气数据</a:t>
            </a:r>
            <a:endParaRPr lang="en-US" altLang="zh-CN" sz="800" dirty="0">
              <a:latin typeface="微软雅黑" charset="-122"/>
              <a:ea typeface="微软雅黑" charset="-122"/>
            </a:endParaRPr>
          </a:p>
        </p:txBody>
      </p:sp>
      <p:sp>
        <p:nvSpPr>
          <p:cNvPr id="194" name="流程图: 磁盘 193"/>
          <p:cNvSpPr/>
          <p:nvPr/>
        </p:nvSpPr>
        <p:spPr>
          <a:xfrm>
            <a:off x="7379265" y="6231013"/>
            <a:ext cx="931921" cy="390425"/>
          </a:xfrm>
          <a:prstGeom prst="flowChartMagneticDisk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800" dirty="0" smtClean="0">
                <a:latin typeface="微软雅黑" charset="-122"/>
                <a:ea typeface="微软雅黑" charset="-122"/>
              </a:rPr>
              <a:t>ECEJ - </a:t>
            </a:r>
            <a:r>
              <a:rPr lang="zh-CN" altLang="en-US" sz="800" dirty="0" smtClean="0">
                <a:latin typeface="微软雅黑" charset="-122"/>
                <a:ea typeface="微软雅黑" charset="-122"/>
              </a:rPr>
              <a:t>用户、客</a:t>
            </a:r>
            <a:r>
              <a:rPr lang="zh-CN" altLang="en-US" sz="800" dirty="0">
                <a:latin typeface="微软雅黑" charset="-122"/>
                <a:ea typeface="微软雅黑" charset="-122"/>
              </a:rPr>
              <a:t>服数据</a:t>
            </a:r>
            <a:endParaRPr lang="en-US" altLang="zh-CN" sz="800" dirty="0">
              <a:latin typeface="微软雅黑" charset="-122"/>
              <a:ea typeface="微软雅黑" charset="-122"/>
            </a:endParaRPr>
          </a:p>
        </p:txBody>
      </p:sp>
      <p:sp>
        <p:nvSpPr>
          <p:cNvPr id="195" name="矩形 194"/>
          <p:cNvSpPr/>
          <p:nvPr/>
        </p:nvSpPr>
        <p:spPr>
          <a:xfrm>
            <a:off x="3332276" y="5437412"/>
            <a:ext cx="5617270" cy="61894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sz="14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96" name="矩形 195"/>
          <p:cNvSpPr/>
          <p:nvPr/>
        </p:nvSpPr>
        <p:spPr>
          <a:xfrm>
            <a:off x="3332276" y="3725934"/>
            <a:ext cx="5617270" cy="156570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sz="14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98" name="文本框 14"/>
          <p:cNvSpPr txBox="1"/>
          <p:nvPr/>
        </p:nvSpPr>
        <p:spPr>
          <a:xfrm>
            <a:off x="3232559" y="6251990"/>
            <a:ext cx="1065606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数据源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99" name="文本框 14"/>
          <p:cNvSpPr txBox="1"/>
          <p:nvPr/>
        </p:nvSpPr>
        <p:spPr>
          <a:xfrm>
            <a:off x="3215075" y="5560174"/>
            <a:ext cx="1065606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数据层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200" name="文本框 14"/>
          <p:cNvSpPr txBox="1"/>
          <p:nvPr/>
        </p:nvSpPr>
        <p:spPr>
          <a:xfrm>
            <a:off x="3200642" y="4305555"/>
            <a:ext cx="1065606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本体</a:t>
            </a:r>
            <a:r>
              <a:rPr lang="zh-CN" altLang="en-US" b="1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层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201" name="上箭头 200"/>
          <p:cNvSpPr/>
          <p:nvPr/>
        </p:nvSpPr>
        <p:spPr>
          <a:xfrm>
            <a:off x="4213688" y="3559562"/>
            <a:ext cx="2067988" cy="337940"/>
          </a:xfrm>
          <a:prstGeom prst="up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accent2">
                    <a:lumMod val="50000"/>
                  </a:schemeClr>
                </a:solidFill>
                <a:latin typeface="微软雅黑" charset="-122"/>
                <a:ea typeface="微软雅黑" charset="-122"/>
              </a:rPr>
              <a:t>让</a:t>
            </a:r>
            <a:r>
              <a:rPr lang="en-US" altLang="zh-CN" sz="800" dirty="0">
                <a:solidFill>
                  <a:schemeClr val="accent2">
                    <a:lumMod val="50000"/>
                  </a:schemeClr>
                </a:solidFill>
                <a:latin typeface="微软雅黑" charset="-122"/>
                <a:ea typeface="微软雅黑" charset="-122"/>
              </a:rPr>
              <a:t>AI</a:t>
            </a:r>
            <a:r>
              <a:rPr lang="zh-CN" altLang="en-US" sz="800" dirty="0">
                <a:solidFill>
                  <a:schemeClr val="accent2">
                    <a:lumMod val="50000"/>
                  </a:schemeClr>
                </a:solidFill>
                <a:latin typeface="微软雅黑" charset="-122"/>
                <a:ea typeface="微软雅黑" charset="-122"/>
              </a:rPr>
              <a:t>基于语义方便用数</a:t>
            </a:r>
          </a:p>
        </p:txBody>
      </p:sp>
      <p:sp>
        <p:nvSpPr>
          <p:cNvPr id="202" name="上箭头 201"/>
          <p:cNvSpPr/>
          <p:nvPr/>
        </p:nvSpPr>
        <p:spPr>
          <a:xfrm>
            <a:off x="6074870" y="5231172"/>
            <a:ext cx="420933" cy="192656"/>
          </a:xfrm>
          <a:prstGeom prst="up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上箭头 202"/>
          <p:cNvSpPr/>
          <p:nvPr/>
        </p:nvSpPr>
        <p:spPr>
          <a:xfrm>
            <a:off x="6071209" y="5979804"/>
            <a:ext cx="420933" cy="232080"/>
          </a:xfrm>
          <a:prstGeom prst="up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/>
          <p:cNvSpPr/>
          <p:nvPr/>
        </p:nvSpPr>
        <p:spPr>
          <a:xfrm>
            <a:off x="4455549" y="2742137"/>
            <a:ext cx="316293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基本本体新范式下的用数方案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6641695" y="3949586"/>
            <a:ext cx="2278702" cy="1213536"/>
          </a:xfrm>
          <a:prstGeom prst="roundRect">
            <a:avLst>
              <a:gd name="adj" fmla="val 354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61" name="组合 460"/>
          <p:cNvGrpSpPr/>
          <p:nvPr/>
        </p:nvGrpSpPr>
        <p:grpSpPr>
          <a:xfrm>
            <a:off x="4103785" y="3957079"/>
            <a:ext cx="2439340" cy="1206042"/>
            <a:chOff x="7384958" y="2069002"/>
            <a:chExt cx="2485451" cy="1309338"/>
          </a:xfrm>
        </p:grpSpPr>
        <p:sp>
          <p:nvSpPr>
            <p:cNvPr id="209" name="圆角矩形 208"/>
            <p:cNvSpPr/>
            <p:nvPr/>
          </p:nvSpPr>
          <p:spPr>
            <a:xfrm>
              <a:off x="7384958" y="2069002"/>
              <a:ext cx="2485451" cy="1309338"/>
            </a:xfrm>
            <a:prstGeom prst="roundRect">
              <a:avLst>
                <a:gd name="adj" fmla="val 354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7791179" y="2322405"/>
              <a:ext cx="571501" cy="244935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 smtClean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房产</a:t>
              </a:r>
              <a:endParaRPr lang="zh-CN" altLang="en-US" sz="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11" name="椭圆 210"/>
            <p:cNvSpPr/>
            <p:nvPr/>
          </p:nvSpPr>
          <p:spPr>
            <a:xfrm>
              <a:off x="8398834" y="2199937"/>
              <a:ext cx="571501" cy="244935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 smtClean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家庭用户</a:t>
              </a:r>
              <a:endParaRPr lang="zh-CN" altLang="en-US" sz="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12" name="椭圆 211"/>
            <p:cNvSpPr/>
            <p:nvPr/>
          </p:nvSpPr>
          <p:spPr>
            <a:xfrm>
              <a:off x="7425634" y="3033719"/>
              <a:ext cx="571501" cy="244935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 smtClean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燃气表</a:t>
              </a:r>
              <a:endParaRPr lang="zh-CN" altLang="en-US" sz="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13" name="椭圆 212"/>
            <p:cNvSpPr/>
            <p:nvPr/>
          </p:nvSpPr>
          <p:spPr>
            <a:xfrm>
              <a:off x="7895786" y="2847639"/>
              <a:ext cx="608217" cy="244935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燃气灶</a:t>
              </a:r>
            </a:p>
          </p:txBody>
        </p:sp>
        <p:sp>
          <p:nvSpPr>
            <p:cNvPr id="214" name="椭圆 213"/>
            <p:cNvSpPr/>
            <p:nvPr/>
          </p:nvSpPr>
          <p:spPr>
            <a:xfrm>
              <a:off x="8508271" y="2770492"/>
              <a:ext cx="608217" cy="244935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采暖炉</a:t>
              </a:r>
            </a:p>
          </p:txBody>
        </p:sp>
        <p:sp>
          <p:nvSpPr>
            <p:cNvPr id="215" name="椭圆 214"/>
            <p:cNvSpPr/>
            <p:nvPr/>
          </p:nvSpPr>
          <p:spPr>
            <a:xfrm>
              <a:off x="8821861" y="2413896"/>
              <a:ext cx="571501" cy="244935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 smtClean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服务站</a:t>
              </a:r>
              <a:endParaRPr lang="zh-CN" altLang="en-US" sz="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16" name="椭圆 215"/>
            <p:cNvSpPr/>
            <p:nvPr/>
          </p:nvSpPr>
          <p:spPr>
            <a:xfrm>
              <a:off x="9256567" y="2682433"/>
              <a:ext cx="571501" cy="244935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 smtClean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多能工</a:t>
              </a:r>
              <a:endParaRPr lang="zh-CN" altLang="en-US" sz="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17" name="椭圆 216"/>
            <p:cNvSpPr/>
            <p:nvPr/>
          </p:nvSpPr>
          <p:spPr>
            <a:xfrm>
              <a:off x="9009804" y="3108535"/>
              <a:ext cx="571501" cy="244935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 smtClean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工单</a:t>
              </a:r>
              <a:endParaRPr lang="zh-CN" altLang="en-US" sz="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cxnSp>
          <p:nvCxnSpPr>
            <p:cNvPr id="35" name="曲线连接符 34"/>
            <p:cNvCxnSpPr>
              <a:stCxn id="33" idx="4"/>
              <a:endCxn id="212" idx="0"/>
            </p:cNvCxnSpPr>
            <p:nvPr/>
          </p:nvCxnSpPr>
          <p:spPr>
            <a:xfrm rot="5400000">
              <a:off x="7660968" y="2617758"/>
              <a:ext cx="466379" cy="365545"/>
            </a:xfrm>
            <a:prstGeom prst="curved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曲线连接符 36"/>
            <p:cNvCxnSpPr>
              <a:stCxn id="33" idx="4"/>
              <a:endCxn id="213" idx="0"/>
            </p:cNvCxnSpPr>
            <p:nvPr/>
          </p:nvCxnSpPr>
          <p:spPr>
            <a:xfrm rot="16200000" flipH="1">
              <a:off x="7998263" y="2646007"/>
              <a:ext cx="280299" cy="122965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曲线连接符 39"/>
            <p:cNvCxnSpPr>
              <a:stCxn id="33" idx="4"/>
              <a:endCxn id="214" idx="1"/>
            </p:cNvCxnSpPr>
            <p:nvPr/>
          </p:nvCxnSpPr>
          <p:spPr>
            <a:xfrm rot="16200000" flipH="1">
              <a:off x="8217626" y="2426644"/>
              <a:ext cx="239022" cy="520412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曲线连接符 41"/>
            <p:cNvCxnSpPr>
              <a:stCxn id="33" idx="5"/>
              <a:endCxn id="215" idx="2"/>
            </p:cNvCxnSpPr>
            <p:nvPr/>
          </p:nvCxnSpPr>
          <p:spPr>
            <a:xfrm rot="16200000" flipH="1">
              <a:off x="8547977" y="2262479"/>
              <a:ext cx="4894" cy="542876"/>
            </a:xfrm>
            <a:prstGeom prst="curvedConnector4">
              <a:avLst>
                <a:gd name="adj1" fmla="val 375621"/>
                <a:gd name="adj2" fmla="val 5770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曲线连接符 44"/>
            <p:cNvCxnSpPr>
              <a:stCxn id="215" idx="5"/>
              <a:endCxn id="216" idx="1"/>
            </p:cNvCxnSpPr>
            <p:nvPr/>
          </p:nvCxnSpPr>
          <p:spPr>
            <a:xfrm rot="16200000" flipH="1">
              <a:off x="9277294" y="2655335"/>
              <a:ext cx="95341" cy="30593"/>
            </a:xfrm>
            <a:prstGeom prst="curved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曲线连接符 46"/>
            <p:cNvCxnSpPr>
              <a:stCxn id="216" idx="4"/>
              <a:endCxn id="217" idx="0"/>
            </p:cNvCxnSpPr>
            <p:nvPr/>
          </p:nvCxnSpPr>
          <p:spPr>
            <a:xfrm rot="5400000">
              <a:off x="9328354" y="2894570"/>
              <a:ext cx="181167" cy="246763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曲线连接符 52"/>
            <p:cNvCxnSpPr>
              <a:stCxn id="212" idx="5"/>
              <a:endCxn id="217" idx="2"/>
            </p:cNvCxnSpPr>
            <p:nvPr/>
          </p:nvCxnSpPr>
          <p:spPr>
            <a:xfrm rot="5400000" flipH="1" flipV="1">
              <a:off x="8455731" y="2688712"/>
              <a:ext cx="11781" cy="1096363"/>
            </a:xfrm>
            <a:prstGeom prst="curvedConnector4">
              <a:avLst>
                <a:gd name="adj1" fmla="val -359333"/>
                <a:gd name="adj2" fmla="val 53817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曲线连接符 56"/>
            <p:cNvCxnSpPr>
              <a:endCxn id="217" idx="2"/>
            </p:cNvCxnSpPr>
            <p:nvPr/>
          </p:nvCxnSpPr>
          <p:spPr>
            <a:xfrm>
              <a:off x="8396910" y="3056090"/>
              <a:ext cx="612894" cy="174913"/>
            </a:xfrm>
            <a:prstGeom prst="curved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曲线连接符 58"/>
            <p:cNvCxnSpPr>
              <a:stCxn id="214" idx="5"/>
              <a:endCxn id="217" idx="2"/>
            </p:cNvCxnSpPr>
            <p:nvPr/>
          </p:nvCxnSpPr>
          <p:spPr>
            <a:xfrm rot="5400000">
              <a:off x="8892888" y="3096474"/>
              <a:ext cx="251446" cy="17613"/>
            </a:xfrm>
            <a:prstGeom prst="curvedConnector4">
              <a:avLst>
                <a:gd name="adj1" fmla="val 18515"/>
                <a:gd name="adj2" fmla="val 9998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曲线连接符 62"/>
            <p:cNvCxnSpPr>
              <a:stCxn id="33" idx="7"/>
              <a:endCxn id="211" idx="2"/>
            </p:cNvCxnSpPr>
            <p:nvPr/>
          </p:nvCxnSpPr>
          <p:spPr>
            <a:xfrm rot="5400000" flipH="1" flipV="1">
              <a:off x="8320975" y="2280416"/>
              <a:ext cx="35870" cy="119848"/>
            </a:xfrm>
            <a:prstGeom prst="curvedConnector4">
              <a:avLst>
                <a:gd name="adj1" fmla="val 76858"/>
                <a:gd name="adj2" fmla="val 84916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3" name="图片 14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323" y="3957079"/>
            <a:ext cx="344479" cy="350991"/>
          </a:xfrm>
          <a:prstGeom prst="rect">
            <a:avLst/>
          </a:prstGeom>
        </p:spPr>
      </p:pic>
      <p:pic>
        <p:nvPicPr>
          <p:cNvPr id="466" name="图片 46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2965" y="3970935"/>
            <a:ext cx="383067" cy="347457"/>
          </a:xfrm>
          <a:prstGeom prst="rect">
            <a:avLst/>
          </a:prstGeom>
        </p:spPr>
      </p:pic>
      <p:sp>
        <p:nvSpPr>
          <p:cNvPr id="273" name="上箭头 272"/>
          <p:cNvSpPr/>
          <p:nvPr/>
        </p:nvSpPr>
        <p:spPr>
          <a:xfrm>
            <a:off x="6581367" y="3551639"/>
            <a:ext cx="2067988" cy="345863"/>
          </a:xfrm>
          <a:prstGeom prst="up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 smtClean="0">
                <a:solidFill>
                  <a:schemeClr val="accent2">
                    <a:lumMod val="50000"/>
                  </a:schemeClr>
                </a:solidFill>
                <a:latin typeface="微软雅黑" charset="-122"/>
                <a:ea typeface="微软雅黑" charset="-122"/>
              </a:rPr>
              <a:t>大模型基于</a:t>
            </a:r>
            <a:r>
              <a:rPr lang="zh-CN" altLang="en-US" sz="800" dirty="0">
                <a:solidFill>
                  <a:schemeClr val="accent2">
                    <a:lumMod val="50000"/>
                  </a:schemeClr>
                </a:solidFill>
                <a:latin typeface="微软雅黑" charset="-122"/>
                <a:ea typeface="微软雅黑" charset="-122"/>
              </a:rPr>
              <a:t>本体</a:t>
            </a:r>
            <a:r>
              <a:rPr lang="zh-CN" altLang="en-US" sz="800" dirty="0" smtClean="0">
                <a:solidFill>
                  <a:schemeClr val="accent2">
                    <a:lumMod val="50000"/>
                  </a:schemeClr>
                </a:solidFill>
                <a:latin typeface="微软雅黑" charset="-122"/>
                <a:ea typeface="微软雅黑" charset="-122"/>
              </a:rPr>
              <a:t>安全防护进行取数</a:t>
            </a:r>
            <a:endParaRPr lang="zh-CN" altLang="en-US" sz="800" dirty="0">
              <a:solidFill>
                <a:schemeClr val="accent2">
                  <a:lumMod val="50000"/>
                </a:schemeClr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79" name="文本框 478"/>
          <p:cNvSpPr txBox="1"/>
          <p:nvPr/>
        </p:nvSpPr>
        <p:spPr>
          <a:xfrm>
            <a:off x="4390522" y="3955876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050" b="1" dirty="0" smtClean="0">
                <a:latin typeface="微软雅黑" charset="-122"/>
                <a:ea typeface="微软雅黑" charset="-122"/>
              </a:rPr>
              <a:t>本体模型</a:t>
            </a:r>
            <a:endParaRPr kumimoji="1" lang="zh-CN" altLang="en-US" sz="1050" b="1" dirty="0">
              <a:latin typeface="微软雅黑" charset="-122"/>
              <a:ea typeface="微软雅黑" charset="-122"/>
            </a:endParaRPr>
          </a:p>
        </p:txBody>
      </p:sp>
      <p:sp>
        <p:nvSpPr>
          <p:cNvPr id="276" name="文本框 275"/>
          <p:cNvSpPr txBox="1"/>
          <p:nvPr/>
        </p:nvSpPr>
        <p:spPr>
          <a:xfrm>
            <a:off x="6902854" y="3955750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050" b="1" dirty="0" smtClean="0">
                <a:latin typeface="微软雅黑" charset="-122"/>
                <a:ea typeface="微软雅黑" charset="-122"/>
              </a:rPr>
              <a:t>安全防护</a:t>
            </a:r>
            <a:endParaRPr kumimoji="1" lang="zh-CN" altLang="en-US" sz="1050" b="1" dirty="0">
              <a:latin typeface="微软雅黑" charset="-122"/>
              <a:ea typeface="微软雅黑" charset="-122"/>
            </a:endParaRPr>
          </a:p>
        </p:txBody>
      </p:sp>
      <p:sp>
        <p:nvSpPr>
          <p:cNvPr id="287" name="文本框 286"/>
          <p:cNvSpPr txBox="1"/>
          <p:nvPr/>
        </p:nvSpPr>
        <p:spPr>
          <a:xfrm>
            <a:off x="7136346" y="4182965"/>
            <a:ext cx="1729942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600" dirty="0">
                <a:latin typeface="微软雅黑" charset="-122"/>
                <a:ea typeface="微软雅黑" charset="-122"/>
              </a:rPr>
              <a:t>仅客服、风控角色可调用用户用气全量数据，普通业务 </a:t>
            </a:r>
            <a:r>
              <a:rPr lang="en-US" altLang="zh-CN" sz="600" dirty="0">
                <a:latin typeface="微软雅黑" charset="-122"/>
                <a:ea typeface="微软雅黑" charset="-122"/>
              </a:rPr>
              <a:t>AI </a:t>
            </a:r>
            <a:r>
              <a:rPr lang="zh-CN" altLang="en-US" sz="600" dirty="0">
                <a:latin typeface="微软雅黑" charset="-122"/>
                <a:ea typeface="微软雅黑" charset="-122"/>
              </a:rPr>
              <a:t>仅能</a:t>
            </a:r>
            <a:r>
              <a:rPr lang="zh-CN" altLang="en-US" sz="600" dirty="0" smtClean="0">
                <a:latin typeface="微软雅黑" charset="-122"/>
                <a:ea typeface="微软雅黑" charset="-122"/>
              </a:rPr>
              <a:t>读</a:t>
            </a:r>
            <a:endParaRPr lang="en-US" altLang="zh-CN" sz="600" dirty="0" smtClean="0">
              <a:latin typeface="微软雅黑" charset="-122"/>
              <a:ea typeface="微软雅黑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600" dirty="0" smtClean="0">
                <a:latin typeface="微软雅黑" charset="-122"/>
                <a:ea typeface="微软雅黑" charset="-122"/>
              </a:rPr>
              <a:t>匿名</a:t>
            </a:r>
            <a:r>
              <a:rPr lang="zh-CN" altLang="en-US" sz="600" dirty="0">
                <a:latin typeface="微软雅黑" charset="-122"/>
                <a:ea typeface="微软雅黑" charset="-122"/>
              </a:rPr>
              <a:t>用气统计大模型批量查询超 </a:t>
            </a:r>
            <a:r>
              <a:rPr lang="en-US" altLang="zh-CN" sz="600" dirty="0" smtClean="0">
                <a:latin typeface="微软雅黑" charset="-122"/>
                <a:ea typeface="微软雅黑" charset="-122"/>
              </a:rPr>
              <a:t>50 </a:t>
            </a:r>
            <a:r>
              <a:rPr lang="zh-CN" altLang="en-US" sz="600" dirty="0" smtClean="0">
                <a:latin typeface="微软雅黑" charset="-122"/>
                <a:ea typeface="微软雅黑" charset="-122"/>
              </a:rPr>
              <a:t>户家庭隐私数据自动阻断并触发审计；</a:t>
            </a:r>
            <a:endParaRPr kumimoji="1" lang="zh-CN" altLang="en-US" sz="600" dirty="0">
              <a:latin typeface="微软雅黑" charset="-122"/>
              <a:ea typeface="微软雅黑" charset="-122"/>
            </a:endParaRPr>
          </a:p>
        </p:txBody>
      </p:sp>
      <p:sp>
        <p:nvSpPr>
          <p:cNvPr id="480" name="文本框 479"/>
          <p:cNvSpPr txBox="1"/>
          <p:nvPr/>
        </p:nvSpPr>
        <p:spPr>
          <a:xfrm>
            <a:off x="7119211" y="4661646"/>
            <a:ext cx="1751269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sz="800">
                <a:latin typeface="微软雅黑" charset="-122"/>
                <a:ea typeface="微软雅黑" charset="-122"/>
              </a:defRPr>
            </a:lvl1pPr>
          </a:lstStyle>
          <a:p>
            <a:r>
              <a:rPr lang="zh-CN" altLang="en-US" sz="600" dirty="0"/>
              <a:t>访问控制</a:t>
            </a:r>
            <a:r>
              <a:rPr lang="zh-CN" altLang="en-US" sz="600" dirty="0" smtClean="0"/>
              <a:t>裁决：客</a:t>
            </a:r>
            <a:r>
              <a:rPr lang="zh-CN" altLang="en-US" sz="600" dirty="0"/>
              <a:t>服人员接收报修后，可以对相关用户用气情况进行</a:t>
            </a:r>
            <a:r>
              <a:rPr lang="zh-CN" altLang="en-US" sz="600" dirty="0" smtClean="0"/>
              <a:t>查询</a:t>
            </a:r>
            <a:endParaRPr lang="en-US" altLang="zh-CN" sz="600" dirty="0"/>
          </a:p>
          <a:p>
            <a:r>
              <a:rPr lang="zh-CN" altLang="en-US" sz="600" dirty="0"/>
              <a:t>动态脱敏</a:t>
            </a:r>
            <a:r>
              <a:rPr lang="zh-CN" altLang="en-US" sz="600" dirty="0" smtClean="0"/>
              <a:t>裁决：身份证</a:t>
            </a:r>
            <a:r>
              <a:rPr lang="zh-CN" altLang="en-US" sz="600" dirty="0"/>
              <a:t>号在非必须场景，进行脱敏</a:t>
            </a:r>
            <a:r>
              <a:rPr lang="zh-CN" altLang="en-US" sz="600" dirty="0" smtClean="0"/>
              <a:t>处理</a:t>
            </a:r>
            <a:endParaRPr lang="zh-CN" altLang="en-US" sz="600" dirty="0"/>
          </a:p>
        </p:txBody>
      </p:sp>
      <p:sp>
        <p:nvSpPr>
          <p:cNvPr id="481" name="圆角矩形 480"/>
          <p:cNvSpPr/>
          <p:nvPr/>
        </p:nvSpPr>
        <p:spPr>
          <a:xfrm>
            <a:off x="6674668" y="4201324"/>
            <a:ext cx="452001" cy="429653"/>
          </a:xfrm>
          <a:prstGeom prst="roundRect">
            <a:avLst>
              <a:gd name="adj" fmla="val 6544"/>
            </a:avLst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语义定义</a:t>
            </a:r>
            <a:endParaRPr lang="en-US" altLang="zh-CN" sz="900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85" name="圆角矩形 284"/>
          <p:cNvSpPr/>
          <p:nvPr/>
        </p:nvSpPr>
        <p:spPr>
          <a:xfrm>
            <a:off x="6674668" y="4674289"/>
            <a:ext cx="461678" cy="439256"/>
          </a:xfrm>
          <a:prstGeom prst="roundRect">
            <a:avLst>
              <a:gd name="adj" fmla="val 6825"/>
            </a:avLst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访问控制</a:t>
            </a:r>
            <a:endParaRPr lang="en-US" altLang="zh-CN" sz="900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83" name="圆角矩形 482"/>
          <p:cNvSpPr/>
          <p:nvPr/>
        </p:nvSpPr>
        <p:spPr>
          <a:xfrm>
            <a:off x="4424156" y="5575246"/>
            <a:ext cx="869522" cy="33918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用户数据集成、融合与</a:t>
            </a:r>
            <a:r>
              <a:rPr lang="en-US" altLang="zh-CN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AI</a:t>
            </a:r>
            <a:r>
              <a:rPr lang="zh-CN" altLang="en-US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治理</a:t>
            </a:r>
            <a:endParaRPr lang="zh-CN" altLang="en-US" sz="800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89" name="圆角矩形 288"/>
          <p:cNvSpPr/>
          <p:nvPr/>
        </p:nvSpPr>
        <p:spPr>
          <a:xfrm>
            <a:off x="5482289" y="5575246"/>
            <a:ext cx="869522" cy="33918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设备</a:t>
            </a:r>
            <a:r>
              <a:rPr lang="zh-CN" altLang="en-US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数据集成、融合与</a:t>
            </a:r>
            <a:r>
              <a:rPr lang="en-US" altLang="zh-CN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AI</a:t>
            </a:r>
            <a:r>
              <a:rPr lang="zh-CN" altLang="en-US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治理</a:t>
            </a:r>
            <a:endParaRPr lang="zh-CN" altLang="en-US" sz="800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6540422" y="5575246"/>
            <a:ext cx="869522" cy="33918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房产数据</a:t>
            </a:r>
            <a:r>
              <a:rPr lang="zh-CN" altLang="en-US" sz="800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集成、融合</a:t>
            </a:r>
            <a:r>
              <a:rPr lang="zh-CN" altLang="en-US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与</a:t>
            </a:r>
            <a:r>
              <a:rPr lang="en-US" altLang="zh-CN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AI</a:t>
            </a:r>
            <a:r>
              <a:rPr lang="zh-CN" altLang="en-US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治理</a:t>
            </a:r>
            <a:endParaRPr lang="zh-CN" altLang="en-US" sz="800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91" name="圆角矩形 290"/>
          <p:cNvSpPr/>
          <p:nvPr/>
        </p:nvSpPr>
        <p:spPr>
          <a:xfrm>
            <a:off x="7598555" y="5575246"/>
            <a:ext cx="869522" cy="33918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 smtClean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……</a:t>
            </a:r>
            <a:endParaRPr lang="zh-CN" altLang="en-US" sz="800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kumimoji="1" sz="1600">
            <a:latin typeface="微软雅黑" charset="-122"/>
            <a:ea typeface="微软雅黑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1215</Words>
  <Application>Microsoft Office PowerPoint</Application>
  <PresentationFormat>宽屏</PresentationFormat>
  <Paragraphs>184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苹方-简</vt:lpstr>
      <vt:lpstr>微软雅黑</vt:lpstr>
      <vt:lpstr>Arial</vt:lpstr>
      <vt:lpstr>Wingdings</vt:lpstr>
      <vt:lpstr>2_Office 主题​​</vt:lpstr>
      <vt:lpstr>1、客户认知--AI Agent 落地企业，倒逼数据技术架构的重新定义</vt:lpstr>
      <vt:lpstr>基于需求技术再出发--重构平台，跃迁本体</vt:lpstr>
      <vt:lpstr>基于本体新范式重构AI时代数据生产新框架的能力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鲁宁</cp:lastModifiedBy>
  <cp:revision>903</cp:revision>
  <dcterms:created xsi:type="dcterms:W3CDTF">2026-06-22T07:42:04Z</dcterms:created>
  <dcterms:modified xsi:type="dcterms:W3CDTF">2026-07-17T10:12:11Z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517196A55135D2568A46326AB606C455_41</vt:lpwstr>
  </property>
</Properties>
</file>