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70" r:id="rId20"/>
    <p:sldId id="266" r:id="rId10"/>
    <p:sldId id="267" r:id="rId11"/>
    <p:sldId id="268" r:id="rId12"/>
    <p:sldId id="269" r:id="rId13"/>
    <p:sldId id="26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99"/>
    <a:srgbClr val="155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73" d="100"/>
          <a:sy n="73" d="100"/>
        </p:scale>
        <p:origin x="5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A5F2C-0AF6-FA44-A23F-C7E9B5128904}" type="datetimeFigureOut">
              <a:rPr kumimoji="1" lang="zh-CN" altLang="en-US" smtClean="0"/>
              <a:t>2022/2/8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9FC85-E4B9-8F48-941C-AE3787FDEA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595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1CE6CA3-0033-FE4D-B423-42D1D7DF316B}"/>
              </a:ext>
            </a:extLst>
          </p:cNvPr>
          <p:cNvSpPr/>
          <p:nvPr userDrawn="1"/>
        </p:nvSpPr>
        <p:spPr>
          <a:xfrm>
            <a:off x="0" y="1926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9B05B0-F457-A94F-BCF2-512807787C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4958"/>
          <a:stretch/>
        </p:blipFill>
        <p:spPr>
          <a:xfrm>
            <a:off x="327992" y="570657"/>
            <a:ext cx="2743984" cy="96816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34136B-AF54-DF4F-AA12-F57607D5B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906" y="2315461"/>
            <a:ext cx="9144000" cy="10064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 b="1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主标题微软雅黑</a:t>
            </a:r>
            <a:r>
              <a:rPr kumimoji="1" lang="en-US" altLang="zh-CN" dirty="0"/>
              <a:t>54pt</a:t>
            </a:r>
            <a:r>
              <a:rPr kumimoji="1" lang="zh-CN" altLang="en-US" dirty="0"/>
              <a:t>加粗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DF93E2-B394-C94A-A01B-0B1AC9E7E9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79906" y="3536065"/>
            <a:ext cx="7348458" cy="4973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副标题微软雅黑</a:t>
            </a:r>
            <a:r>
              <a:rPr kumimoji="1" lang="en-US" altLang="zh-CN" dirty="0"/>
              <a:t>24pt</a:t>
            </a:r>
            <a:endParaRPr kumimoji="1"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3F4F797-EF01-FD44-ABFD-DE11777B99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61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3669B2-807E-BF4A-B9A1-0834A6498AF7}"/>
              </a:ext>
            </a:extLst>
          </p:cNvPr>
          <p:cNvSpPr/>
          <p:nvPr userDrawn="1"/>
        </p:nvSpPr>
        <p:spPr>
          <a:xfrm>
            <a:off x="31376" y="0"/>
            <a:ext cx="12192000" cy="254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5A1EA610-B0E9-E64C-A4D9-50ADC8939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3646" y="2172073"/>
            <a:ext cx="5688105" cy="1604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itchFamily="2" charset="2"/>
              <a:buChar char="n"/>
              <a:defRPr sz="2400" b="0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800" b="0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2400" b="0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71600" indent="0">
              <a:buNone/>
              <a:defRPr b="0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buNone/>
              <a:defRPr b="0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7ACABD-220D-E849-AE6B-02BEEEC8255F}"/>
              </a:ext>
            </a:extLst>
          </p:cNvPr>
          <p:cNvSpPr txBox="1"/>
          <p:nvPr userDrawn="1"/>
        </p:nvSpPr>
        <p:spPr>
          <a:xfrm>
            <a:off x="995082" y="1064371"/>
            <a:ext cx="1515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  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CD08DA-E4BE-B24A-8E7A-D3D70F464D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8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A45B5E5C-823D-6347-813F-B841F048D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123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EC25845-EE93-D643-B211-2BF1DFC6D93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8" name="标题占位符 3">
            <a:extLst>
              <a:ext uri="{FF2B5EF4-FFF2-40B4-BE49-F238E27FC236}">
                <a16:creationId xmlns:a16="http://schemas.microsoft.com/office/drawing/2014/main" id="{0AF42E07-70DE-A245-9D3C-48D15FC9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0" y="212282"/>
            <a:ext cx="10515600" cy="761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6733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1CE6CA3-0033-FE4D-B423-42D1D7DF316B}"/>
              </a:ext>
            </a:extLst>
          </p:cNvPr>
          <p:cNvSpPr/>
          <p:nvPr userDrawn="1"/>
        </p:nvSpPr>
        <p:spPr>
          <a:xfrm>
            <a:off x="0" y="1926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34136B-AF54-DF4F-AA12-F57607D5B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906" y="2807998"/>
            <a:ext cx="9144000" cy="10064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 b="1" i="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谢 谢！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3BD4963-EBF4-FD40-8AD1-B459EE994A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C6AE40E-C14F-8E4A-9D7A-1600C5D87F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64958"/>
          <a:stretch/>
        </p:blipFill>
        <p:spPr>
          <a:xfrm>
            <a:off x="327992" y="570657"/>
            <a:ext cx="2743984" cy="9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8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835C3A-4BF4-7C44-99AC-A291AD4A1B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64958"/>
          <a:stretch/>
        </p:blipFill>
        <p:spPr>
          <a:xfrm>
            <a:off x="9826333" y="196160"/>
            <a:ext cx="2204309" cy="777749"/>
          </a:xfrm>
          <a:prstGeom prst="rect">
            <a:avLst/>
          </a:prstGeom>
        </p:spPr>
      </p:pic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F5B0E56-1845-E04A-9961-347066D51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123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EC25845-EE93-D643-B211-2BF1DFC6D93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472F2A4-4E5B-504F-925D-8591249857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0403" y="928190"/>
            <a:ext cx="927574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占位符 1">
            <a:extLst>
              <a:ext uri="{FF2B5EF4-FFF2-40B4-BE49-F238E27FC236}">
                <a16:creationId xmlns:a16="http://schemas.microsoft.com/office/drawing/2014/main" id="{E64BC044-8DA3-EE4F-8E48-C13C680D115C}"/>
              </a:ext>
            </a:extLst>
          </p:cNvPr>
          <p:cNvSpPr txBox="1">
            <a:spLocks/>
          </p:cNvSpPr>
          <p:nvPr userDrawn="1"/>
        </p:nvSpPr>
        <p:spPr>
          <a:xfrm>
            <a:off x="403410" y="257654"/>
            <a:ext cx="10515600" cy="693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4F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标题占位符 3">
            <a:extLst>
              <a:ext uri="{FF2B5EF4-FFF2-40B4-BE49-F238E27FC236}">
                <a16:creationId xmlns:a16="http://schemas.microsoft.com/office/drawing/2014/main" id="{CC5BEBDA-7D08-6A4D-A0DB-DDF75DBC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0" y="212282"/>
            <a:ext cx="10515600" cy="761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3078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4F99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" Type="http://schemas.openxmlformats.org/officeDocument/2006/relationships/image" Target="../media/image5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9">
            <a:extLst>
              <a:ext uri="{FF2B5EF4-FFF2-40B4-BE49-F238E27FC236}">
                <a16:creationId xmlns:a16="http://schemas.microsoft.com/office/drawing/2014/main" id="{B5C695FD-E0A1-46B6-8159-BA5335051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2377440"/>
            <a:ext cx="9144000" cy="868680"/>
          </a:xfrm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4000" b="1" spc="200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新进人员任前答辩材料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5B02251C-566F-4ED0-9905-E7603AEA8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476" y="5724144"/>
            <a:ext cx="9144000" cy="420624"/>
          </a:xfrm>
        </p:spPr>
        <p:txBody>
          <a:bodyPr lIns="0" rIns="0"/>
          <a:lstStyle/>
          <a:p>
            <a:pPr algn="ctr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答辩时间：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6583383E-670E-48C5-A677-8E336AF2B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76" y="4809744"/>
            <a:ext cx="9144000" cy="420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9pPr>
          </a:lstStyle>
          <a:p>
            <a:pPr algn="ctr">
              <a:buNone/>
            </a:pPr>
            <a:r>
              <a:rPr lang="zh-CN" altLang="en-US" sz="18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答辩人：</a:t>
            </a:r>
          </a:p>
        </p:txBody>
      </p:sp>
      <p:sp>
        <p:nvSpPr>
          <p:cNvPr id="901" name="cover-accent"/>
          <p:cNvSpPr/>
          <p:nvPr/>
        </p:nvSpPr>
        <p:spPr>
          <a:xfrm>
            <a:off x="5367528" y="3419856"/>
            <a:ext cx="1463040" cy="50292"/>
          </a:xfrm>
          <a:prstGeom prst="rect">
            <a:avLst/>
          </a:prstGeom>
          <a:solidFill>
            <a:srgbClr val="0065A6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02" name="cover-sub"/>
          <p:cNvSpPr/>
          <p:nvPr/>
        </p:nvSpPr>
        <p:spPr>
          <a:xfrm>
            <a:off x="1522476" y="356616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128016" tIns="91440" rIns="128016" bIns="91440" anchor="t">
            <a:normAutofit/>
          </a:bodyPr>
          <a:lstStyle/>
          <a:p>
            <a:pPr algn="ctr">
              <a:buNone/>
            </a:pPr>
            <a:r>
              <a:rPr lang="zh-CN" altLang="en-US" sz="1600" b="0" spc="20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校招生转正答辩</a:t>
            </a:r>
          </a:p>
        </p:txBody>
      </p:sp>
      <p:sp>
        <p:nvSpPr>
          <p:cNvPr id="903" name="cover-org"/>
          <p:cNvSpPr/>
          <p:nvPr/>
        </p:nvSpPr>
        <p:spPr>
          <a:xfrm>
            <a:off x="1522476" y="5266944"/>
            <a:ext cx="9144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所在组织：</a:t>
            </a:r>
          </a:p>
        </p:txBody>
      </p:sp>
    </p:spTree>
    <p:extLst>
      <p:ext uri="{BB962C8B-B14F-4D97-AF65-F5344CB8AC3E}">
        <p14:creationId xmlns:p14="http://schemas.microsoft.com/office/powerpoint/2010/main" val="268084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oc-card-0"/>
          <p:cNvSpPr/>
          <p:nvPr/>
        </p:nvSpPr>
        <p:spPr>
          <a:xfrm>
            <a:off x="3017520" y="1325880"/>
            <a:ext cx="8083296" cy="1335024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05" name="toc-num-0"/>
          <p:cNvSpPr/>
          <p:nvPr/>
        </p:nvSpPr>
        <p:spPr>
          <a:xfrm>
            <a:off x="3383280" y="1709928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36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01</a:t>
            </a:r>
          </a:p>
        </p:txBody>
      </p:sp>
      <p:sp>
        <p:nvSpPr>
          <p:cNvPr id="906" name="toc-title-0"/>
          <p:cNvSpPr/>
          <p:nvPr/>
        </p:nvSpPr>
        <p:spPr>
          <a:xfrm>
            <a:off x="4590288" y="1636776"/>
            <a:ext cx="616305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个人基本情况介绍</a:t>
            </a:r>
          </a:p>
        </p:txBody>
      </p:sp>
      <p:sp>
        <p:nvSpPr>
          <p:cNvPr id="907" name="toc-sub-0"/>
          <p:cNvSpPr/>
          <p:nvPr/>
        </p:nvSpPr>
        <p:spPr>
          <a:xfrm>
            <a:off x="4590288" y="2075688"/>
            <a:ext cx="61630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教育背景 · 实习经历 · 项目与科研经历</a:t>
            </a:r>
          </a:p>
        </p:txBody>
      </p:sp>
      <p:sp>
        <p:nvSpPr>
          <p:cNvPr id="908" name="toc-card-1"/>
          <p:cNvSpPr/>
          <p:nvPr/>
        </p:nvSpPr>
        <p:spPr>
          <a:xfrm>
            <a:off x="3017520" y="2953512"/>
            <a:ext cx="8083296" cy="1335024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09" name="toc-num-1"/>
          <p:cNvSpPr/>
          <p:nvPr/>
        </p:nvSpPr>
        <p:spPr>
          <a:xfrm>
            <a:off x="3383280" y="333756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36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02</a:t>
            </a:r>
          </a:p>
        </p:txBody>
      </p:sp>
      <p:sp>
        <p:nvSpPr>
          <p:cNvPr id="910" name="toc-title-1"/>
          <p:cNvSpPr/>
          <p:nvPr/>
        </p:nvSpPr>
        <p:spPr>
          <a:xfrm>
            <a:off x="4590288" y="3264408"/>
            <a:ext cx="616305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试用期间工作与思考</a:t>
            </a:r>
          </a:p>
        </p:txBody>
      </p:sp>
      <p:sp>
        <p:nvSpPr>
          <p:cNvPr id="911" name="toc-sub-1"/>
          <p:cNvSpPr/>
          <p:nvPr/>
        </p:nvSpPr>
        <p:spPr>
          <a:xfrm>
            <a:off x="4590288" y="3703320"/>
            <a:ext cx="61630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工作总结与价值贡献 · 发现与改进建议 · 从校园到职场的转变</a:t>
            </a:r>
          </a:p>
        </p:txBody>
      </p:sp>
      <p:sp>
        <p:nvSpPr>
          <p:cNvPr id="912" name="toc-card-2"/>
          <p:cNvSpPr/>
          <p:nvPr/>
        </p:nvSpPr>
        <p:spPr>
          <a:xfrm>
            <a:off x="3017520" y="4581144"/>
            <a:ext cx="8083296" cy="1335024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13" name="toc-num-2"/>
          <p:cNvSpPr/>
          <p:nvPr/>
        </p:nvSpPr>
        <p:spPr>
          <a:xfrm>
            <a:off x="3383280" y="4965192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36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03</a:t>
            </a:r>
          </a:p>
        </p:txBody>
      </p:sp>
      <p:sp>
        <p:nvSpPr>
          <p:cNvPr id="914" name="toc-title-2"/>
          <p:cNvSpPr/>
          <p:nvPr/>
        </p:nvSpPr>
        <p:spPr>
          <a:xfrm>
            <a:off x="4590288" y="4892040"/>
            <a:ext cx="616305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转正后的岗位理解与工作计划</a:t>
            </a:r>
          </a:p>
        </p:txBody>
      </p:sp>
      <p:sp>
        <p:nvSpPr>
          <p:cNvPr id="915" name="toc-sub-2"/>
          <p:cNvSpPr/>
          <p:nvPr/>
        </p:nvSpPr>
        <p:spPr>
          <a:xfrm>
            <a:off x="4590288" y="5330952"/>
            <a:ext cx="61630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岗位理解 · 转正后工作计划 · 能力提升路径</a:t>
            </a:r>
          </a:p>
        </p:txBody>
      </p:sp>
    </p:spTree>
    <p:extLst>
      <p:ext uri="{BB962C8B-B14F-4D97-AF65-F5344CB8AC3E}">
        <p14:creationId xmlns:p14="http://schemas.microsoft.com/office/powerpoint/2010/main" val="400237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3</a:t>
            </a:fld>
            <a:endParaRPr kumimoji="1" lang="zh-CN" altLang="en-US" dirty="0"/>
          </a:p>
        </p:txBody>
      </p:sp>
      <p:pic>
        <p:nvPicPr>
          <p:cNvPr id="916" name="divider-phot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1032" y="1234440"/>
            <a:ext cx="6217920" cy="4663440"/>
          </a:xfrm>
          <a:prstGeom prst="rect">
            <a:avLst/>
          </a:prstGeom>
        </p:spPr>
      </p:pic>
      <p:sp>
        <p:nvSpPr>
          <p:cNvPr id="917" name="div-num"/>
          <p:cNvSpPr/>
          <p:nvPr/>
        </p:nvSpPr>
        <p:spPr>
          <a:xfrm>
            <a:off x="850392" y="23774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8800" b="1" spc="-100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01</a:t>
            </a:r>
          </a:p>
        </p:txBody>
      </p:sp>
      <p:sp>
        <p:nvSpPr>
          <p:cNvPr id="918" name="div-rule"/>
          <p:cNvSpPr/>
          <p:nvPr/>
        </p:nvSpPr>
        <p:spPr>
          <a:xfrm>
            <a:off x="850392" y="3675888"/>
            <a:ext cx="1188720" cy="50292"/>
          </a:xfrm>
          <a:prstGeom prst="rect">
            <a:avLst/>
          </a:prstGeom>
          <a:solidFill>
            <a:srgbClr val="0065A6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19" name="div-title"/>
          <p:cNvSpPr/>
          <p:nvPr/>
        </p:nvSpPr>
        <p:spPr>
          <a:xfrm>
            <a:off x="850392" y="3895344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3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个人基本情况介绍</a:t>
            </a:r>
          </a:p>
        </p:txBody>
      </p:sp>
    </p:spTree>
    <p:extLst>
      <p:ext uri="{BB962C8B-B14F-4D97-AF65-F5344CB8AC3E}">
        <p14:creationId xmlns:p14="http://schemas.microsoft.com/office/powerpoint/2010/main" val="284408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4</a:t>
            </a:fld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6818864-B1C8-4C69-A9E3-28C7BB624089}"/>
              </a:ext>
            </a:extLst>
          </p:cNvPr>
          <p:cNvSpPr txBox="1">
            <a:spLocks/>
          </p:cNvSpPr>
          <p:nvPr/>
        </p:nvSpPr>
        <p:spPr bwMode="auto">
          <a:xfrm>
            <a:off x="611188" y="404813"/>
            <a:ext cx="79375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9pPr>
          </a:lstStyle>
          <a:p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个人基本信息概述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8" name="h-1.12"/>
          <p:cNvSpPr/>
          <p:nvPr/>
        </p:nvSpPr>
        <p:spPr>
          <a:xfrm>
            <a:off x="850392" y="10241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教育背景</a:t>
            </a:r>
          </a:p>
        </p:txBody>
      </p:sp>
      <p:sp>
        <p:nvSpPr>
          <p:cNvPr id="1029" name="edu-card"/>
          <p:cNvSpPr/>
          <p:nvPr/>
        </p:nvSpPr>
        <p:spPr>
          <a:xfrm>
            <a:off x="850392" y="1371600"/>
            <a:ext cx="4942332" cy="1225296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30" name="logo-slot"/>
          <p:cNvSpPr/>
          <p:nvPr/>
        </p:nvSpPr>
        <p:spPr>
          <a:xfrm>
            <a:off x="1088136" y="159105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31" name="logo-hint"/>
          <p:cNvSpPr/>
          <p:nvPr/>
        </p:nvSpPr>
        <p:spPr>
          <a:xfrm>
            <a:off x="1088136" y="1591056"/>
            <a:ext cx="786384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0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LOGO</a:t>
            </a:r>
          </a:p>
        </p:txBody>
      </p:sp>
      <p:sp>
        <p:nvSpPr>
          <p:cNvPr id="1032" name="pill-bg"/>
          <p:cNvSpPr/>
          <p:nvPr/>
        </p:nvSpPr>
        <p:spPr>
          <a:xfrm>
            <a:off x="4896612" y="1572768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33" name="pill-tx"/>
          <p:cNvSpPr/>
          <p:nvPr/>
        </p:nvSpPr>
        <p:spPr>
          <a:xfrm>
            <a:off x="4896612" y="157276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1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本科</a:t>
            </a:r>
          </a:p>
        </p:txBody>
      </p:sp>
      <p:sp>
        <p:nvSpPr>
          <p:cNvPr id="1034" name="edu-school"/>
          <p:cNvSpPr/>
          <p:nvPr/>
        </p:nvSpPr>
        <p:spPr>
          <a:xfrm>
            <a:off x="2020824" y="1554480"/>
            <a:ext cx="274777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学校名称</a:t>
            </a:r>
          </a:p>
        </p:txBody>
      </p:sp>
      <p:sp>
        <p:nvSpPr>
          <p:cNvPr id="1035" name="edu-major"/>
          <p:cNvSpPr/>
          <p:nvPr/>
        </p:nvSpPr>
        <p:spPr>
          <a:xfrm>
            <a:off x="2020824" y="1920240"/>
            <a:ext cx="35250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专业名称</a:t>
            </a:r>
          </a:p>
        </p:txBody>
      </p:sp>
      <p:sp>
        <p:nvSpPr>
          <p:cNvPr id="1036" name="edu-degree"/>
          <p:cNvSpPr/>
          <p:nvPr/>
        </p:nvSpPr>
        <p:spPr>
          <a:xfrm>
            <a:off x="2020824" y="2212848"/>
            <a:ext cx="35250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学位 · 起止时间</a:t>
            </a:r>
          </a:p>
        </p:txBody>
      </p:sp>
      <p:sp>
        <p:nvSpPr>
          <p:cNvPr id="1037" name="edu-card"/>
          <p:cNvSpPr/>
          <p:nvPr/>
        </p:nvSpPr>
        <p:spPr>
          <a:xfrm>
            <a:off x="6158484" y="1371600"/>
            <a:ext cx="4942332" cy="1225296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38" name="logo-slot"/>
          <p:cNvSpPr/>
          <p:nvPr/>
        </p:nvSpPr>
        <p:spPr>
          <a:xfrm>
            <a:off x="6396228" y="159105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39" name="logo-hint"/>
          <p:cNvSpPr/>
          <p:nvPr/>
        </p:nvSpPr>
        <p:spPr>
          <a:xfrm>
            <a:off x="6396228" y="1591056"/>
            <a:ext cx="786384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0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LOGO</a:t>
            </a:r>
          </a:p>
        </p:txBody>
      </p:sp>
      <p:sp>
        <p:nvSpPr>
          <p:cNvPr id="1040" name="pill-bg"/>
          <p:cNvSpPr/>
          <p:nvPr/>
        </p:nvSpPr>
        <p:spPr>
          <a:xfrm>
            <a:off x="10204704" y="1572768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41" name="pill-tx"/>
          <p:cNvSpPr/>
          <p:nvPr/>
        </p:nvSpPr>
        <p:spPr>
          <a:xfrm>
            <a:off x="10204704" y="157276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1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硕士</a:t>
            </a:r>
          </a:p>
        </p:txBody>
      </p:sp>
      <p:sp>
        <p:nvSpPr>
          <p:cNvPr id="1042" name="edu-school"/>
          <p:cNvSpPr/>
          <p:nvPr/>
        </p:nvSpPr>
        <p:spPr>
          <a:xfrm>
            <a:off x="7328916" y="1554480"/>
            <a:ext cx="274777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7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学校名称</a:t>
            </a:r>
          </a:p>
        </p:txBody>
      </p:sp>
      <p:sp>
        <p:nvSpPr>
          <p:cNvPr id="1043" name="edu-major"/>
          <p:cNvSpPr/>
          <p:nvPr/>
        </p:nvSpPr>
        <p:spPr>
          <a:xfrm>
            <a:off x="7328916" y="1920240"/>
            <a:ext cx="35250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专业名称</a:t>
            </a:r>
          </a:p>
        </p:txBody>
      </p:sp>
      <p:sp>
        <p:nvSpPr>
          <p:cNvPr id="1044" name="edu-degree"/>
          <p:cNvSpPr/>
          <p:nvPr/>
        </p:nvSpPr>
        <p:spPr>
          <a:xfrm>
            <a:off x="7328916" y="2212848"/>
            <a:ext cx="35250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学位 · 起止时间</a:t>
            </a:r>
          </a:p>
        </p:txBody>
      </p:sp>
      <p:sp>
        <p:nvSpPr>
          <p:cNvPr id="1045" name="h-3.06"/>
          <p:cNvSpPr/>
          <p:nvPr/>
        </p:nvSpPr>
        <p:spPr>
          <a:xfrm>
            <a:off x="850392" y="279806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实习经历</a:t>
            </a:r>
          </a:p>
        </p:txBody>
      </p:sp>
      <p:sp>
        <p:nvSpPr>
          <p:cNvPr id="1046" name="int-card"/>
          <p:cNvSpPr/>
          <p:nvPr/>
        </p:nvSpPr>
        <p:spPr>
          <a:xfrm>
            <a:off x="850392" y="3145536"/>
            <a:ext cx="3209544" cy="306324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47" name="logo-slot"/>
          <p:cNvSpPr/>
          <p:nvPr/>
        </p:nvSpPr>
        <p:spPr>
          <a:xfrm>
            <a:off x="1088136" y="3364992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48" name="logo-hint"/>
          <p:cNvSpPr/>
          <p:nvPr/>
        </p:nvSpPr>
        <p:spPr>
          <a:xfrm>
            <a:off x="1088136" y="336499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0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LOGO</a:t>
            </a:r>
          </a:p>
        </p:txBody>
      </p:sp>
      <p:sp>
        <p:nvSpPr>
          <p:cNvPr id="1049" name="pill-bg"/>
          <p:cNvSpPr/>
          <p:nvPr/>
        </p:nvSpPr>
        <p:spPr>
          <a:xfrm>
            <a:off x="1911096" y="3529584"/>
            <a:ext cx="1645920" cy="329184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50" name="pill-tx"/>
          <p:cNvSpPr/>
          <p:nvPr/>
        </p:nvSpPr>
        <p:spPr>
          <a:xfrm>
            <a:off x="1911096" y="35295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岗位名称</a:t>
            </a:r>
          </a:p>
        </p:txBody>
      </p:sp>
      <p:sp>
        <p:nvSpPr>
          <p:cNvPr id="1051" name="int-org"/>
          <p:cNvSpPr/>
          <p:nvPr/>
        </p:nvSpPr>
        <p:spPr>
          <a:xfrm>
            <a:off x="1088136" y="4169664"/>
            <a:ext cx="2734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实习单位名称</a:t>
            </a:r>
          </a:p>
        </p:txBody>
      </p:sp>
      <p:sp>
        <p:nvSpPr>
          <p:cNvPr id="1052" name="int-time"/>
          <p:cNvSpPr/>
          <p:nvPr/>
        </p:nvSpPr>
        <p:spPr>
          <a:xfrm>
            <a:off x="1088136" y="4736592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起止时间</a:t>
            </a:r>
          </a:p>
        </p:txBody>
      </p:sp>
      <p:sp>
        <p:nvSpPr>
          <p:cNvPr id="1053" name="int-rule"/>
          <p:cNvSpPr/>
          <p:nvPr/>
        </p:nvSpPr>
        <p:spPr>
          <a:xfrm>
            <a:off x="1088136" y="5010912"/>
            <a:ext cx="2734056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54" name="int-desc"/>
          <p:cNvSpPr/>
          <p:nvPr/>
        </p:nvSpPr>
        <p:spPr>
          <a:xfrm>
            <a:off x="1088136" y="5120640"/>
            <a:ext cx="2734056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主要工作与产出：做了什么、交付了什么、结果如何，尽量给出可验证的数字。</a:t>
            </a:r>
          </a:p>
        </p:txBody>
      </p:sp>
      <p:sp>
        <p:nvSpPr>
          <p:cNvPr id="1055" name="int-card"/>
          <p:cNvSpPr/>
          <p:nvPr/>
        </p:nvSpPr>
        <p:spPr>
          <a:xfrm>
            <a:off x="4370832" y="3145536"/>
            <a:ext cx="3209544" cy="306324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56" name="logo-slot"/>
          <p:cNvSpPr/>
          <p:nvPr/>
        </p:nvSpPr>
        <p:spPr>
          <a:xfrm>
            <a:off x="4608576" y="3364992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57" name="logo-hint"/>
          <p:cNvSpPr/>
          <p:nvPr/>
        </p:nvSpPr>
        <p:spPr>
          <a:xfrm>
            <a:off x="4608576" y="336499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0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LOGO</a:t>
            </a:r>
          </a:p>
        </p:txBody>
      </p:sp>
      <p:sp>
        <p:nvSpPr>
          <p:cNvPr id="1058" name="pill-bg"/>
          <p:cNvSpPr/>
          <p:nvPr/>
        </p:nvSpPr>
        <p:spPr>
          <a:xfrm>
            <a:off x="5431536" y="3529584"/>
            <a:ext cx="1645920" cy="329184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59" name="pill-tx"/>
          <p:cNvSpPr/>
          <p:nvPr/>
        </p:nvSpPr>
        <p:spPr>
          <a:xfrm>
            <a:off x="5431536" y="35295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岗位名称</a:t>
            </a:r>
          </a:p>
        </p:txBody>
      </p:sp>
      <p:sp>
        <p:nvSpPr>
          <p:cNvPr id="1060" name="int-org"/>
          <p:cNvSpPr/>
          <p:nvPr/>
        </p:nvSpPr>
        <p:spPr>
          <a:xfrm>
            <a:off x="4608576" y="4169664"/>
            <a:ext cx="2734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实习单位名称</a:t>
            </a:r>
          </a:p>
        </p:txBody>
      </p:sp>
      <p:sp>
        <p:nvSpPr>
          <p:cNvPr id="1061" name="int-time"/>
          <p:cNvSpPr/>
          <p:nvPr/>
        </p:nvSpPr>
        <p:spPr>
          <a:xfrm>
            <a:off x="4608576" y="4736592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起止时间</a:t>
            </a:r>
          </a:p>
        </p:txBody>
      </p:sp>
      <p:sp>
        <p:nvSpPr>
          <p:cNvPr id="1062" name="int-rule"/>
          <p:cNvSpPr/>
          <p:nvPr/>
        </p:nvSpPr>
        <p:spPr>
          <a:xfrm>
            <a:off x="4608576" y="5010912"/>
            <a:ext cx="2734056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63" name="int-desc"/>
          <p:cNvSpPr/>
          <p:nvPr/>
        </p:nvSpPr>
        <p:spPr>
          <a:xfrm>
            <a:off x="4608576" y="5120640"/>
            <a:ext cx="2734056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主要工作与产出：做了什么、交付了什么、结果如何，尽量给出可验证的数字。</a:t>
            </a:r>
          </a:p>
        </p:txBody>
      </p:sp>
      <p:sp>
        <p:nvSpPr>
          <p:cNvPr id="1064" name="int-card"/>
          <p:cNvSpPr/>
          <p:nvPr/>
        </p:nvSpPr>
        <p:spPr>
          <a:xfrm>
            <a:off x="7891272" y="3145536"/>
            <a:ext cx="3209544" cy="306324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65" name="logo-slot"/>
          <p:cNvSpPr/>
          <p:nvPr/>
        </p:nvSpPr>
        <p:spPr>
          <a:xfrm>
            <a:off x="8129016" y="3364992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66" name="logo-hint"/>
          <p:cNvSpPr/>
          <p:nvPr/>
        </p:nvSpPr>
        <p:spPr>
          <a:xfrm>
            <a:off x="8129016" y="336499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0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LOGO</a:t>
            </a:r>
          </a:p>
        </p:txBody>
      </p:sp>
      <p:sp>
        <p:nvSpPr>
          <p:cNvPr id="1067" name="pill-bg"/>
          <p:cNvSpPr/>
          <p:nvPr/>
        </p:nvSpPr>
        <p:spPr>
          <a:xfrm>
            <a:off x="8951976" y="3529584"/>
            <a:ext cx="1645920" cy="329184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68" name="pill-tx"/>
          <p:cNvSpPr/>
          <p:nvPr/>
        </p:nvSpPr>
        <p:spPr>
          <a:xfrm>
            <a:off x="8951976" y="35295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岗位名称</a:t>
            </a:r>
          </a:p>
        </p:txBody>
      </p:sp>
      <p:sp>
        <p:nvSpPr>
          <p:cNvPr id="1069" name="int-org"/>
          <p:cNvSpPr/>
          <p:nvPr/>
        </p:nvSpPr>
        <p:spPr>
          <a:xfrm>
            <a:off x="8129016" y="4169664"/>
            <a:ext cx="2734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实习单位名称</a:t>
            </a:r>
          </a:p>
        </p:txBody>
      </p:sp>
      <p:sp>
        <p:nvSpPr>
          <p:cNvPr id="1070" name="int-time"/>
          <p:cNvSpPr/>
          <p:nvPr/>
        </p:nvSpPr>
        <p:spPr>
          <a:xfrm>
            <a:off x="8129016" y="4736592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起止时间</a:t>
            </a:r>
          </a:p>
        </p:txBody>
      </p:sp>
      <p:sp>
        <p:nvSpPr>
          <p:cNvPr id="1071" name="int-rule"/>
          <p:cNvSpPr/>
          <p:nvPr/>
        </p:nvSpPr>
        <p:spPr>
          <a:xfrm>
            <a:off x="8129016" y="5010912"/>
            <a:ext cx="2734056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72" name="int-desc"/>
          <p:cNvSpPr/>
          <p:nvPr/>
        </p:nvSpPr>
        <p:spPr>
          <a:xfrm>
            <a:off x="8129016" y="5120640"/>
            <a:ext cx="2734056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1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主要工作与产出：做了什么、交付了什么、结果如何，尽量给出可验证的数字。</a:t>
            </a:r>
          </a:p>
        </p:txBody>
      </p:sp>
    </p:spTree>
    <p:extLst>
      <p:ext uri="{BB962C8B-B14F-4D97-AF65-F5344CB8AC3E}">
        <p14:creationId xmlns:p14="http://schemas.microsoft.com/office/powerpoint/2010/main" val="395181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5</a:t>
            </a:fld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6A862F5-F142-4244-9F08-892F5444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383741"/>
            <a:ext cx="7050240" cy="583413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项目与科研经历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928" name="p5-major"/>
          <p:cNvSpPr/>
          <p:nvPr/>
        </p:nvSpPr>
        <p:spPr>
          <a:xfrm>
            <a:off x="850392" y="1115568"/>
            <a:ext cx="4942332" cy="2542032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29" name="p5-mbg"/>
          <p:cNvSpPr/>
          <p:nvPr/>
        </p:nvSpPr>
        <p:spPr>
          <a:xfrm>
            <a:off x="1088136" y="1335024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30" name="p5-mtag"/>
          <p:cNvSpPr/>
          <p:nvPr/>
        </p:nvSpPr>
        <p:spPr>
          <a:xfrm>
            <a:off x="1088136" y="133502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项目类型 · 标签</a:t>
            </a:r>
          </a:p>
        </p:txBody>
      </p:sp>
      <p:sp>
        <p:nvSpPr>
          <p:cNvPr id="931" name="p5-mname"/>
          <p:cNvSpPr/>
          <p:nvPr/>
        </p:nvSpPr>
        <p:spPr>
          <a:xfrm>
            <a:off x="1088136" y="1700784"/>
            <a:ext cx="44668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Project Title</a:t>
            </a:r>
          </a:p>
        </p:txBody>
      </p:sp>
      <p:sp>
        <p:nvSpPr>
          <p:cNvPr id="932" name="p5-mcn"/>
          <p:cNvSpPr/>
          <p:nvPr/>
        </p:nvSpPr>
        <p:spPr>
          <a:xfrm>
            <a:off x="1088136" y="2048256"/>
            <a:ext cx="446684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项目中文名称 / 副标题</a:t>
            </a:r>
          </a:p>
        </p:txBody>
      </p:sp>
      <p:sp>
        <p:nvSpPr>
          <p:cNvPr id="933" name="p5-mmeta"/>
          <p:cNvSpPr/>
          <p:nvPr/>
        </p:nvSpPr>
        <p:spPr>
          <a:xfrm>
            <a:off x="1088136" y="2340864"/>
            <a:ext cx="44668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所属课程或机构</a:t>
            </a:r>
          </a:p>
          <a:p>
            <a:pPr algn="l">
              <a:buNone/>
            </a:pPr>
            <a:r>
              <a:rPr lang="zh-CN" altLang="en-US" sz="105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合作方 · 时间 · 团队规模</a:t>
            </a:r>
          </a:p>
        </p:txBody>
      </p:sp>
      <p:sp>
        <p:nvSpPr>
          <p:cNvPr id="934" name="p5-mrule"/>
          <p:cNvSpPr/>
          <p:nvPr/>
        </p:nvSpPr>
        <p:spPr>
          <a:xfrm>
            <a:off x="1088136" y="2816352"/>
            <a:ext cx="4466844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35" name="p5-mbody"/>
          <p:cNvSpPr/>
          <p:nvPr/>
        </p:nvSpPr>
        <p:spPr>
          <a:xfrm>
            <a:off x="1088136" y="2907792"/>
            <a:ext cx="446684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项目背景与目标；我负责的部分；使用的方法与工具；可验证的结果（尽量给数字）。</a:t>
            </a:r>
          </a:p>
        </p:txBody>
      </p:sp>
      <p:sp>
        <p:nvSpPr>
          <p:cNvPr id="936" name="p5-major"/>
          <p:cNvSpPr/>
          <p:nvPr/>
        </p:nvSpPr>
        <p:spPr>
          <a:xfrm>
            <a:off x="6158484" y="1115568"/>
            <a:ext cx="4942332" cy="2542032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37" name="p5-mbg"/>
          <p:cNvSpPr/>
          <p:nvPr/>
        </p:nvSpPr>
        <p:spPr>
          <a:xfrm>
            <a:off x="6396228" y="1335024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38" name="p5-mtag"/>
          <p:cNvSpPr/>
          <p:nvPr/>
        </p:nvSpPr>
        <p:spPr>
          <a:xfrm>
            <a:off x="6396228" y="133502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项目类型 · 标签</a:t>
            </a:r>
          </a:p>
        </p:txBody>
      </p:sp>
      <p:sp>
        <p:nvSpPr>
          <p:cNvPr id="939" name="p5-mname"/>
          <p:cNvSpPr/>
          <p:nvPr/>
        </p:nvSpPr>
        <p:spPr>
          <a:xfrm>
            <a:off x="6396228" y="1700784"/>
            <a:ext cx="44668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Project Title</a:t>
            </a:r>
          </a:p>
        </p:txBody>
      </p:sp>
      <p:sp>
        <p:nvSpPr>
          <p:cNvPr id="940" name="p5-mcn"/>
          <p:cNvSpPr/>
          <p:nvPr/>
        </p:nvSpPr>
        <p:spPr>
          <a:xfrm>
            <a:off x="6396228" y="2048256"/>
            <a:ext cx="446684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20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项目中文名称 / 副标题</a:t>
            </a:r>
          </a:p>
        </p:txBody>
      </p:sp>
      <p:sp>
        <p:nvSpPr>
          <p:cNvPr id="941" name="p5-mmeta"/>
          <p:cNvSpPr/>
          <p:nvPr/>
        </p:nvSpPr>
        <p:spPr>
          <a:xfrm>
            <a:off x="6396228" y="2340864"/>
            <a:ext cx="44668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所属课程或机构</a:t>
            </a:r>
          </a:p>
          <a:p>
            <a:pPr algn="l">
              <a:buNone/>
            </a:pPr>
            <a:r>
              <a:rPr lang="zh-CN" altLang="en-US" sz="105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合作方 · 时间 · 团队规模</a:t>
            </a:r>
          </a:p>
        </p:txBody>
      </p:sp>
      <p:sp>
        <p:nvSpPr>
          <p:cNvPr id="942" name="p5-mrule"/>
          <p:cNvSpPr/>
          <p:nvPr/>
        </p:nvSpPr>
        <p:spPr>
          <a:xfrm>
            <a:off x="6396228" y="2816352"/>
            <a:ext cx="4466844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43" name="p5-mbody"/>
          <p:cNvSpPr/>
          <p:nvPr/>
        </p:nvSpPr>
        <p:spPr>
          <a:xfrm>
            <a:off x="6396228" y="2907792"/>
            <a:ext cx="4466844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项目背景与目标；我负责的部分；使用的方法与工具；可验证的结果（尽量给数字）。</a:t>
            </a:r>
          </a:p>
        </p:txBody>
      </p:sp>
      <p:sp>
        <p:nvSpPr>
          <p:cNvPr id="944" name="p5-card"/>
          <p:cNvSpPr/>
          <p:nvPr/>
        </p:nvSpPr>
        <p:spPr>
          <a:xfrm>
            <a:off x="850392" y="3886200"/>
            <a:ext cx="4942332" cy="246888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45" name="p5-bg"/>
          <p:cNvSpPr/>
          <p:nvPr/>
        </p:nvSpPr>
        <p:spPr>
          <a:xfrm>
            <a:off x="1088136" y="4105656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46" name="p5-tag"/>
          <p:cNvSpPr/>
          <p:nvPr/>
        </p:nvSpPr>
        <p:spPr>
          <a:xfrm>
            <a:off x="1088136" y="410565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项目类型 · 标签</a:t>
            </a:r>
          </a:p>
        </p:txBody>
      </p:sp>
      <p:sp>
        <p:nvSpPr>
          <p:cNvPr id="947" name="p5-name"/>
          <p:cNvSpPr/>
          <p:nvPr/>
        </p:nvSpPr>
        <p:spPr>
          <a:xfrm>
            <a:off x="1088136" y="4489704"/>
            <a:ext cx="44668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项目名称</a:t>
            </a:r>
          </a:p>
        </p:txBody>
      </p:sp>
      <p:sp>
        <p:nvSpPr>
          <p:cNvPr id="948" name="p5-time"/>
          <p:cNvSpPr/>
          <p:nvPr/>
        </p:nvSpPr>
        <p:spPr>
          <a:xfrm>
            <a:off x="1088136" y="4873752"/>
            <a:ext cx="44668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所属课程 / 会议 · 起止时间</a:t>
            </a:r>
          </a:p>
        </p:txBody>
      </p:sp>
      <p:sp>
        <p:nvSpPr>
          <p:cNvPr id="949" name="p5-rule"/>
          <p:cNvSpPr/>
          <p:nvPr/>
        </p:nvSpPr>
        <p:spPr>
          <a:xfrm>
            <a:off x="1088136" y="5202936"/>
            <a:ext cx="4466844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50" name="p5-body"/>
          <p:cNvSpPr/>
          <p:nvPr/>
        </p:nvSpPr>
        <p:spPr>
          <a:xfrm>
            <a:off x="1088136" y="5294376"/>
            <a:ext cx="4466844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项目背景；我负责的部分；方法与工具；量化结果。</a:t>
            </a:r>
          </a:p>
        </p:txBody>
      </p:sp>
      <p:sp>
        <p:nvSpPr>
          <p:cNvPr id="951" name="p5-card"/>
          <p:cNvSpPr/>
          <p:nvPr/>
        </p:nvSpPr>
        <p:spPr>
          <a:xfrm>
            <a:off x="6158484" y="3886200"/>
            <a:ext cx="4942332" cy="246888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52" name="p5-bg"/>
          <p:cNvSpPr/>
          <p:nvPr/>
        </p:nvSpPr>
        <p:spPr>
          <a:xfrm>
            <a:off x="6396228" y="4105656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D6E4F0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53" name="p5-tag"/>
          <p:cNvSpPr/>
          <p:nvPr/>
        </p:nvSpPr>
        <p:spPr>
          <a:xfrm>
            <a:off x="6396228" y="410565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项目类型 · 标签</a:t>
            </a:r>
          </a:p>
        </p:txBody>
      </p:sp>
      <p:sp>
        <p:nvSpPr>
          <p:cNvPr id="954" name="p5-name"/>
          <p:cNvSpPr/>
          <p:nvPr/>
        </p:nvSpPr>
        <p:spPr>
          <a:xfrm>
            <a:off x="6396228" y="4489704"/>
            <a:ext cx="44668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6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项目名称</a:t>
            </a:r>
          </a:p>
        </p:txBody>
      </p:sp>
      <p:sp>
        <p:nvSpPr>
          <p:cNvPr id="955" name="p5-time"/>
          <p:cNvSpPr/>
          <p:nvPr/>
        </p:nvSpPr>
        <p:spPr>
          <a:xfrm>
            <a:off x="6396228" y="4873752"/>
            <a:ext cx="44668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所属课程 / 会议 · 起止时间</a:t>
            </a:r>
          </a:p>
        </p:txBody>
      </p:sp>
      <p:sp>
        <p:nvSpPr>
          <p:cNvPr id="956" name="p5-rule"/>
          <p:cNvSpPr/>
          <p:nvPr/>
        </p:nvSpPr>
        <p:spPr>
          <a:xfrm>
            <a:off x="6396228" y="5202936"/>
            <a:ext cx="4466844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57" name="p5-body"/>
          <p:cNvSpPr/>
          <p:nvPr/>
        </p:nvSpPr>
        <p:spPr>
          <a:xfrm>
            <a:off x="6396228" y="5294376"/>
            <a:ext cx="4466844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050" b="0" dirty="0">
                <a:solidFill>
                  <a:srgbClr val="253746"/>
                </a:solidFill>
                <a:latin typeface="微软雅黑" pitchFamily="34" charset="-122"/>
                <a:ea typeface="微软雅黑" pitchFamily="34" charset="-122"/>
              </a:rPr>
              <a:t>项目背景；我负责的部分；方法与工具；量化结果。</a:t>
            </a:r>
          </a:p>
        </p:txBody>
      </p:sp>
    </p:spTree>
    <p:extLst>
      <p:ext uri="{BB962C8B-B14F-4D97-AF65-F5344CB8AC3E}">
        <p14:creationId xmlns:p14="http://schemas.microsoft.com/office/powerpoint/2010/main" val="426403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6</a:t>
            </a:fld>
            <a:endParaRPr kumimoji="1" lang="zh-CN" altLang="en-US" dirty="0"/>
          </a:p>
        </p:txBody>
      </p:sp>
      <p:pic>
        <p:nvPicPr>
          <p:cNvPr id="920" name="divider-phot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1032" y="1234440"/>
            <a:ext cx="6217920" cy="4663440"/>
          </a:xfrm>
          <a:prstGeom prst="rect">
            <a:avLst/>
          </a:prstGeom>
        </p:spPr>
      </p:pic>
      <p:sp>
        <p:nvSpPr>
          <p:cNvPr id="921" name="div-num"/>
          <p:cNvSpPr/>
          <p:nvPr/>
        </p:nvSpPr>
        <p:spPr>
          <a:xfrm>
            <a:off x="850392" y="23774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8800" b="1" spc="-100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02</a:t>
            </a:r>
          </a:p>
        </p:txBody>
      </p:sp>
      <p:sp>
        <p:nvSpPr>
          <p:cNvPr id="922" name="div-rule"/>
          <p:cNvSpPr/>
          <p:nvPr/>
        </p:nvSpPr>
        <p:spPr>
          <a:xfrm>
            <a:off x="850392" y="3675888"/>
            <a:ext cx="1188720" cy="50292"/>
          </a:xfrm>
          <a:prstGeom prst="rect">
            <a:avLst/>
          </a:prstGeom>
          <a:solidFill>
            <a:srgbClr val="0065A6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23" name="div-title"/>
          <p:cNvSpPr/>
          <p:nvPr/>
        </p:nvSpPr>
        <p:spPr>
          <a:xfrm>
            <a:off x="850392" y="3895344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3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试用期间工作与思考</a:t>
            </a:r>
          </a:p>
        </p:txBody>
      </p:sp>
    </p:spTree>
    <p:extLst>
      <p:ext uri="{BB962C8B-B14F-4D97-AF65-F5344CB8AC3E}">
        <p14:creationId xmlns:p14="http://schemas.microsoft.com/office/powerpoint/2010/main" val="8803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7</a:t>
            </a:fld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9589329-583A-44B0-9A34-A9F92947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23" y="401310"/>
            <a:ext cx="7050240" cy="414768"/>
          </a:xfrm>
        </p:spPr>
        <p:txBody>
          <a:bodyPr>
            <a:normAutofit fontScale="90000"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 试用期间的工作总结——亮点及价值贡献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078B059-A9C4-4C2D-8B82-E1B9D67FE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32555"/>
              </p:ext>
            </p:extLst>
          </p:nvPr>
        </p:nvGraphicFramePr>
        <p:xfrm>
          <a:off x="1078835" y="1978352"/>
          <a:ext cx="9515893" cy="417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3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4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7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工作要项</a:t>
                      </a: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起止时间</a:t>
                      </a: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工作团队</a:t>
                      </a: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工作输出</a:t>
                      </a: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个人参与内容、贡献与创新点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990" marR="35990" marT="45725" marB="45725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59203D4E-CE2D-4259-B05A-22273834F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335" y="1135605"/>
            <a:ext cx="84451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包括（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）试用期内所主导的工作（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）指导人交办的专题任务或报告达成情况。形式可不限于如下表格。</a:t>
            </a:r>
          </a:p>
        </p:txBody>
      </p:sp>
    </p:spTree>
    <p:extLst>
      <p:ext uri="{BB962C8B-B14F-4D97-AF65-F5344CB8AC3E}">
        <p14:creationId xmlns:p14="http://schemas.microsoft.com/office/powerpoint/2010/main" val="412426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8</a:t>
            </a:fld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D73751C-62A3-4488-BD1C-DA6762E8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393573"/>
            <a:ext cx="7050240" cy="520827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 试用期间的主要发现、问题思考与改进建议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12FCDA5E-40BA-495E-8756-EE54B7DCB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92" y="1060704"/>
            <a:ext cx="10250424" cy="658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9pPr>
          </a:lstStyle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此处阐述具体简明，突出要点；内容和形式自定，展示页数不限。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建议结构：观察到的现象 → 背后的原因判断 → 可落地的改进建议。</a:t>
            </a:r>
          </a:p>
        </p:txBody>
      </p:sp>
      <p:sp>
        <p:nvSpPr>
          <p:cNvPr id="958" name="ph-card-0"/>
          <p:cNvSpPr/>
          <p:nvPr/>
        </p:nvSpPr>
        <p:spPr>
          <a:xfrm>
            <a:off x="850392" y="1920240"/>
            <a:ext cx="3209544" cy="40416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59" name="ph-badge-0"/>
          <p:cNvSpPr/>
          <p:nvPr/>
        </p:nvSpPr>
        <p:spPr>
          <a:xfrm>
            <a:off x="1124712" y="2176272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0" name="ph-title-0"/>
          <p:cNvSpPr/>
          <p:nvPr/>
        </p:nvSpPr>
        <p:spPr>
          <a:xfrm>
            <a:off x="1673352" y="2176272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主要发现</a:t>
            </a:r>
          </a:p>
        </p:txBody>
      </p:sp>
      <p:sp>
        <p:nvSpPr>
          <p:cNvPr id="961" name="ph-body-0"/>
          <p:cNvSpPr/>
          <p:nvPr/>
        </p:nvSpPr>
        <p:spPr>
          <a:xfrm>
            <a:off x="1124712" y="2761488"/>
            <a:ext cx="2660904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现象一：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现象二：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（用事实与数据描述，不做评价）</a:t>
            </a:r>
          </a:p>
        </p:txBody>
      </p:sp>
      <p:sp>
        <p:nvSpPr>
          <p:cNvPr id="962" name="ph-card-1"/>
          <p:cNvSpPr/>
          <p:nvPr/>
        </p:nvSpPr>
        <p:spPr>
          <a:xfrm>
            <a:off x="4370832" y="1920240"/>
            <a:ext cx="3209544" cy="40416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63" name="ph-badge-1"/>
          <p:cNvSpPr/>
          <p:nvPr/>
        </p:nvSpPr>
        <p:spPr>
          <a:xfrm>
            <a:off x="4645152" y="2176272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964" name="ph-title-1"/>
          <p:cNvSpPr/>
          <p:nvPr/>
        </p:nvSpPr>
        <p:spPr>
          <a:xfrm>
            <a:off x="5193792" y="2176272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问题思考</a:t>
            </a:r>
          </a:p>
        </p:txBody>
      </p:sp>
      <p:sp>
        <p:nvSpPr>
          <p:cNvPr id="965" name="ph-body-1"/>
          <p:cNvSpPr/>
          <p:nvPr/>
        </p:nvSpPr>
        <p:spPr>
          <a:xfrm>
            <a:off x="4645152" y="2761488"/>
            <a:ext cx="2660904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根因分析：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影响范围：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（说清为什么会这样）</a:t>
            </a:r>
          </a:p>
        </p:txBody>
      </p:sp>
      <p:sp>
        <p:nvSpPr>
          <p:cNvPr id="966" name="ph-card-2"/>
          <p:cNvSpPr/>
          <p:nvPr/>
        </p:nvSpPr>
        <p:spPr>
          <a:xfrm>
            <a:off x="7891272" y="1920240"/>
            <a:ext cx="3209544" cy="40416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67" name="ph-badge-2"/>
          <p:cNvSpPr/>
          <p:nvPr/>
        </p:nvSpPr>
        <p:spPr>
          <a:xfrm>
            <a:off x="8165592" y="2176272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968" name="ph-title-2"/>
          <p:cNvSpPr/>
          <p:nvPr/>
        </p:nvSpPr>
        <p:spPr>
          <a:xfrm>
            <a:off x="8714232" y="2176272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改进建议</a:t>
            </a:r>
          </a:p>
        </p:txBody>
      </p:sp>
      <p:sp>
        <p:nvSpPr>
          <p:cNvPr id="969" name="ph-body-2"/>
          <p:cNvSpPr/>
          <p:nvPr/>
        </p:nvSpPr>
        <p:spPr>
          <a:xfrm>
            <a:off x="8165592" y="2761488"/>
            <a:ext cx="2660904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建议一：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建议二：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（可落地、说明谁来做、什么时候做）</a:t>
            </a:r>
          </a:p>
        </p:txBody>
      </p:sp>
    </p:spTree>
    <p:extLst>
      <p:ext uri="{BB962C8B-B14F-4D97-AF65-F5344CB8AC3E}">
        <p14:creationId xmlns:p14="http://schemas.microsoft.com/office/powerpoint/2010/main" val="3772942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9</a:t>
            </a:fld>
            <a:endParaRPr kumimoji="1" lang="zh-CN" altLang="en-US" dirty="0"/>
          </a:p>
        </p:txBody>
      </p:sp>
      <p:pic>
        <p:nvPicPr>
          <p:cNvPr id="924" name="divider-phot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1032" y="1234440"/>
            <a:ext cx="6217920" cy="4663440"/>
          </a:xfrm>
          <a:prstGeom prst="rect">
            <a:avLst/>
          </a:prstGeom>
        </p:spPr>
      </p:pic>
      <p:sp>
        <p:nvSpPr>
          <p:cNvPr id="925" name="div-num"/>
          <p:cNvSpPr/>
          <p:nvPr/>
        </p:nvSpPr>
        <p:spPr>
          <a:xfrm>
            <a:off x="850392" y="237744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8800" b="1" spc="-100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03</a:t>
            </a:r>
          </a:p>
        </p:txBody>
      </p:sp>
      <p:sp>
        <p:nvSpPr>
          <p:cNvPr id="926" name="div-rule"/>
          <p:cNvSpPr/>
          <p:nvPr/>
        </p:nvSpPr>
        <p:spPr>
          <a:xfrm>
            <a:off x="850392" y="3675888"/>
            <a:ext cx="1188720" cy="50292"/>
          </a:xfrm>
          <a:prstGeom prst="rect">
            <a:avLst/>
          </a:prstGeom>
          <a:solidFill>
            <a:srgbClr val="0065A6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27" name="div-title"/>
          <p:cNvSpPr/>
          <p:nvPr/>
        </p:nvSpPr>
        <p:spPr>
          <a:xfrm>
            <a:off x="850392" y="3895344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32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岗位理解与工作计划</a:t>
            </a:r>
          </a:p>
        </p:txBody>
      </p:sp>
    </p:spTree>
    <p:extLst>
      <p:ext uri="{BB962C8B-B14F-4D97-AF65-F5344CB8AC3E}">
        <p14:creationId xmlns:p14="http://schemas.microsoft.com/office/powerpoint/2010/main" val="399309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10</a:t>
            </a:fld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04AD79B-8285-4E0E-B3FC-6EA1173E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4" y="65798"/>
            <a:ext cx="7050240" cy="117919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 对转正岗位及定位的理解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1B4FD49-D455-4C5B-AD53-E21445D27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96975"/>
            <a:ext cx="71278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dirty="0"/>
              <a:t>转正岗位：XXX</a:t>
            </a:r>
            <a:r>
              <a:rPr lang="en-US" altLang="zh-CN" sz="2000" dirty="0"/>
              <a:t/>
            </a:r>
          </a:p>
          <a:p>
            <a:pPr eaLnBrk="1" hangingPunct="1"/>
            <a:r>
              <a:rPr lang="zh-CN" altLang="en-US" sz="2000" dirty="0"/>
              <a:t>定位：XXX</a:t>
            </a:r>
            <a:r>
              <a:rPr lang="en-US" altLang="zh-CN" sz="2000" dirty="0"/>
              <a:t/>
            </a:r>
          </a:p>
          <a:p>
            <a:pPr eaLnBrk="1" hangingPunct="1"/>
            <a:endParaRPr lang="zh-CN" altLang="en-US" sz="2000" dirty="0"/>
          </a:p>
        </p:txBody>
      </p:sp>
      <p:sp>
        <p:nvSpPr>
          <p:cNvPr id="5" name="折角形 4">
            <a:extLst>
              <a:ext uri="{FF2B5EF4-FFF2-40B4-BE49-F238E27FC236}">
                <a16:creationId xmlns:a16="http://schemas.microsoft.com/office/drawing/2014/main" id="{97CEEAE2-C5C0-40E8-BF9F-2487B9C3E888}"/>
              </a:ext>
            </a:extLst>
          </p:cNvPr>
          <p:cNvSpPr/>
          <p:nvPr/>
        </p:nvSpPr>
        <p:spPr>
          <a:xfrm>
            <a:off x="850392" y="2066544"/>
            <a:ext cx="10250424" cy="896112"/>
          </a:xfrm>
          <a:prstGeom prst="foldedCorner">
            <a:avLst/>
          </a:prstGeom>
          <a:solidFill>
            <a:srgbClr val="E8F1F8"/>
          </a:solidFill>
          <a:ln w="9525">
            <a:solidFill>
              <a:srgbClr val="0065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说明：基于团队目标与岗位职责，说明这个岗位要解决什么问题、需要发挥哪些作用。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建议结构：先讲清岗位价值，再讲自己能补上其中哪一块。</a:t>
            </a:r>
          </a:p>
        </p:txBody>
      </p:sp>
      <p:sp>
        <p:nvSpPr>
          <p:cNvPr id="982" name="ph-card-0"/>
          <p:cNvSpPr/>
          <p:nvPr/>
        </p:nvSpPr>
        <p:spPr>
          <a:xfrm>
            <a:off x="850392" y="3218688"/>
            <a:ext cx="3209544" cy="2871216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83" name="ph-badge-0"/>
          <p:cNvSpPr/>
          <p:nvPr/>
        </p:nvSpPr>
        <p:spPr>
          <a:xfrm>
            <a:off x="1124712" y="3474720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84" name="ph-title-0"/>
          <p:cNvSpPr/>
          <p:nvPr/>
        </p:nvSpPr>
        <p:spPr>
          <a:xfrm>
            <a:off x="1673352" y="3474720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岗位核心职责</a:t>
            </a:r>
          </a:p>
        </p:txBody>
      </p:sp>
      <p:sp>
        <p:nvSpPr>
          <p:cNvPr id="985" name="ph-body-0"/>
          <p:cNvSpPr/>
          <p:nvPr/>
        </p:nvSpPr>
        <p:spPr>
          <a:xfrm>
            <a:off x="1124712" y="4059936"/>
            <a:ext cx="2660904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这个岗位在团队里要解决的关键问题</a:t>
            </a:r>
          </a:p>
        </p:txBody>
      </p:sp>
      <p:sp>
        <p:nvSpPr>
          <p:cNvPr id="986" name="ph-card-1"/>
          <p:cNvSpPr/>
          <p:nvPr/>
        </p:nvSpPr>
        <p:spPr>
          <a:xfrm>
            <a:off x="4370832" y="3218688"/>
            <a:ext cx="3209544" cy="2871216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87" name="ph-badge-1"/>
          <p:cNvSpPr/>
          <p:nvPr/>
        </p:nvSpPr>
        <p:spPr>
          <a:xfrm>
            <a:off x="4645152" y="3474720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988" name="ph-title-1"/>
          <p:cNvSpPr/>
          <p:nvPr/>
        </p:nvSpPr>
        <p:spPr>
          <a:xfrm>
            <a:off x="5193792" y="3474720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协同与资源</a:t>
            </a:r>
          </a:p>
        </p:txBody>
      </p:sp>
      <p:sp>
        <p:nvSpPr>
          <p:cNvPr id="989" name="ph-body-1"/>
          <p:cNvSpPr/>
          <p:nvPr/>
        </p:nvSpPr>
        <p:spPr>
          <a:xfrm>
            <a:off x="4645152" y="4059936"/>
            <a:ext cx="2660904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需要对接哪些团队 / 资源，产出什么</a:t>
            </a:r>
          </a:p>
        </p:txBody>
      </p:sp>
      <p:sp>
        <p:nvSpPr>
          <p:cNvPr id="990" name="ph-card-2"/>
          <p:cNvSpPr/>
          <p:nvPr/>
        </p:nvSpPr>
        <p:spPr>
          <a:xfrm>
            <a:off x="7891272" y="3218688"/>
            <a:ext cx="3209544" cy="2871216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91" name="ph-badge-2"/>
          <p:cNvSpPr/>
          <p:nvPr/>
        </p:nvSpPr>
        <p:spPr>
          <a:xfrm>
            <a:off x="8165592" y="3474720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992" name="ph-title-2"/>
          <p:cNvSpPr/>
          <p:nvPr/>
        </p:nvSpPr>
        <p:spPr>
          <a:xfrm>
            <a:off x="8714232" y="3474720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价值贡献点</a:t>
            </a:r>
          </a:p>
        </p:txBody>
      </p:sp>
      <p:sp>
        <p:nvSpPr>
          <p:cNvPr id="993" name="ph-body-2"/>
          <p:cNvSpPr/>
          <p:nvPr/>
        </p:nvSpPr>
        <p:spPr>
          <a:xfrm>
            <a:off x="8165592" y="4059936"/>
            <a:ext cx="2660904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对团队和业务目标的直接贡献</a:t>
            </a:r>
          </a:p>
        </p:txBody>
      </p:sp>
    </p:spTree>
    <p:extLst>
      <p:ext uri="{BB962C8B-B14F-4D97-AF65-F5344CB8AC3E}">
        <p14:creationId xmlns:p14="http://schemas.microsoft.com/office/powerpoint/2010/main" val="3192969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2FDE4C5-F5B7-4E95-AF41-4C3342A4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77050"/>
            <a:ext cx="7050240" cy="117919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 转正后的工作计划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8" name="折角形 7">
            <a:extLst>
              <a:ext uri="{FF2B5EF4-FFF2-40B4-BE49-F238E27FC236}">
                <a16:creationId xmlns:a16="http://schemas.microsoft.com/office/drawing/2014/main" id="{5AD6F564-987B-4F56-B458-08B2C38877B8}"/>
              </a:ext>
            </a:extLst>
          </p:cNvPr>
          <p:cNvSpPr/>
          <p:nvPr/>
        </p:nvSpPr>
        <p:spPr>
          <a:xfrm>
            <a:off x="850392" y="1280160"/>
            <a:ext cx="10250424" cy="896112"/>
          </a:xfrm>
          <a:prstGeom prst="foldedCorner">
            <a:avLst/>
          </a:prstGeom>
          <a:solidFill>
            <a:srgbClr val="E8F1F8"/>
          </a:solidFill>
          <a:ln w="9525">
            <a:solidFill>
              <a:srgbClr val="0065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说明：写清转正后要做的事、怎么推进、阶段性目标是什么。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建议结构：目标要具体、可衡量，避免"努力提升""积极配合"这类无法验证的表述。</a:t>
            </a:r>
          </a:p>
        </p:txBody>
      </p:sp>
      <p:sp>
        <p:nvSpPr>
          <p:cNvPr id="994" name="ph-card-0"/>
          <p:cNvSpPr/>
          <p:nvPr/>
        </p:nvSpPr>
        <p:spPr>
          <a:xfrm>
            <a:off x="850392" y="2395728"/>
            <a:ext cx="3209544" cy="3712464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95" name="ph-badge-0"/>
          <p:cNvSpPr/>
          <p:nvPr/>
        </p:nvSpPr>
        <p:spPr>
          <a:xfrm>
            <a:off x="1124712" y="2651760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96" name="ph-title-0"/>
          <p:cNvSpPr/>
          <p:nvPr/>
        </p:nvSpPr>
        <p:spPr>
          <a:xfrm>
            <a:off x="1673352" y="2651760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工作重点</a:t>
            </a:r>
          </a:p>
        </p:txBody>
      </p:sp>
      <p:sp>
        <p:nvSpPr>
          <p:cNvPr id="997" name="ph-body-0"/>
          <p:cNvSpPr/>
          <p:nvPr/>
        </p:nvSpPr>
        <p:spPr>
          <a:xfrm>
            <a:off x="1124712" y="3236976"/>
            <a:ext cx="2660904" cy="2596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重点一：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重点二：</a:t>
            </a:r>
          </a:p>
          <a:p>
            <a:pPr algn="l">
              <a:spcBef>
                <a:spcPts val="3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重点三：</a:t>
            </a:r>
          </a:p>
        </p:txBody>
      </p:sp>
      <p:sp>
        <p:nvSpPr>
          <p:cNvPr id="998" name="ph-card-1"/>
          <p:cNvSpPr/>
          <p:nvPr/>
        </p:nvSpPr>
        <p:spPr>
          <a:xfrm>
            <a:off x="4370832" y="2395728"/>
            <a:ext cx="3209544" cy="3712464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99" name="ph-badge-1"/>
          <p:cNvSpPr/>
          <p:nvPr/>
        </p:nvSpPr>
        <p:spPr>
          <a:xfrm>
            <a:off x="4645152" y="2651760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000" name="ph-title-1"/>
          <p:cNvSpPr/>
          <p:nvPr/>
        </p:nvSpPr>
        <p:spPr>
          <a:xfrm>
            <a:off x="5193792" y="2651760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推进方式</a:t>
            </a:r>
          </a:p>
        </p:txBody>
      </p:sp>
      <p:sp>
        <p:nvSpPr>
          <p:cNvPr id="1001" name="ph-body-1"/>
          <p:cNvSpPr/>
          <p:nvPr/>
        </p:nvSpPr>
        <p:spPr>
          <a:xfrm>
            <a:off x="4645152" y="3236976"/>
            <a:ext cx="2660904" cy="2596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具体做法 / 路径：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需要的支持与配合：</a:t>
            </a:r>
          </a:p>
        </p:txBody>
      </p:sp>
      <p:sp>
        <p:nvSpPr>
          <p:cNvPr id="1002" name="ph-card-2"/>
          <p:cNvSpPr/>
          <p:nvPr/>
        </p:nvSpPr>
        <p:spPr>
          <a:xfrm>
            <a:off x="7891272" y="2395728"/>
            <a:ext cx="3209544" cy="3712464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03" name="ph-badge-2"/>
          <p:cNvSpPr/>
          <p:nvPr/>
        </p:nvSpPr>
        <p:spPr>
          <a:xfrm>
            <a:off x="8165592" y="2651760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1004" name="ph-title-2"/>
          <p:cNvSpPr/>
          <p:nvPr/>
        </p:nvSpPr>
        <p:spPr>
          <a:xfrm>
            <a:off x="8714232" y="2651760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阶段目标</a:t>
            </a:r>
          </a:p>
        </p:txBody>
      </p:sp>
      <p:sp>
        <p:nvSpPr>
          <p:cNvPr id="1005" name="ph-body-2"/>
          <p:cNvSpPr/>
          <p:nvPr/>
        </p:nvSpPr>
        <p:spPr>
          <a:xfrm>
            <a:off x="8165592" y="3236976"/>
            <a:ext cx="2660904" cy="2596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可衡量的目标：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完成时间：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衡量口径：</a:t>
            </a:r>
          </a:p>
        </p:txBody>
      </p:sp>
    </p:spTree>
    <p:extLst>
      <p:ext uri="{BB962C8B-B14F-4D97-AF65-F5344CB8AC3E}">
        <p14:creationId xmlns:p14="http://schemas.microsoft.com/office/powerpoint/2010/main" val="3680544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12</a:t>
            </a:fld>
            <a:endParaRPr kumimoji="1"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8DC5491-366A-4A0A-A7B7-78D354F9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116851"/>
            <a:ext cx="7050240" cy="117919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 能力提升路径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1006" name="tl-hint"/>
          <p:cNvSpPr/>
          <p:nvPr/>
        </p:nvSpPr>
        <p:spPr>
          <a:xfrm>
            <a:off x="850392" y="1481328"/>
            <a:ext cx="1025042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按时间节奏拆解成长路径：每个阶段写清「要补什么能力 → 通过什么方式 → 达到什么水平」</a:t>
            </a:r>
          </a:p>
        </p:txBody>
      </p:sp>
      <p:sp>
        <p:nvSpPr>
          <p:cNvPr id="1007" name="tl-axis"/>
          <p:cNvSpPr/>
          <p:nvPr/>
        </p:nvSpPr>
        <p:spPr>
          <a:xfrm>
            <a:off x="1124712" y="2395728"/>
            <a:ext cx="9701784" cy="3200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08" name="tl-dot-0"/>
          <p:cNvSpPr/>
          <p:nvPr/>
        </p:nvSpPr>
        <p:spPr>
          <a:xfrm>
            <a:off x="1868805" y="2249424"/>
            <a:ext cx="292608" cy="292608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/>
        </p:txBody>
      </p:sp>
      <p:sp>
        <p:nvSpPr>
          <p:cNvPr id="1009" name="tl-q-0"/>
          <p:cNvSpPr/>
          <p:nvPr/>
        </p:nvSpPr>
        <p:spPr>
          <a:xfrm>
            <a:off x="850392" y="2688336"/>
            <a:ext cx="232943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首月</a:t>
            </a:r>
          </a:p>
        </p:txBody>
      </p:sp>
      <p:sp>
        <p:nvSpPr>
          <p:cNvPr id="1010" name="tl-card-0"/>
          <p:cNvSpPr/>
          <p:nvPr/>
        </p:nvSpPr>
        <p:spPr>
          <a:xfrm>
            <a:off x="850392" y="3145536"/>
            <a:ext cx="2329434" cy="2743200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11" name="tl-t-0"/>
          <p:cNvSpPr/>
          <p:nvPr/>
        </p:nvSpPr>
        <p:spPr>
          <a:xfrm>
            <a:off x="1069848" y="3364992"/>
            <a:ext cx="18905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熟悉与补齐</a:t>
            </a:r>
          </a:p>
        </p:txBody>
      </p:sp>
      <p:sp>
        <p:nvSpPr>
          <p:cNvPr id="1012" name="tl-b-0"/>
          <p:cNvSpPr/>
          <p:nvPr/>
        </p:nvSpPr>
        <p:spPr>
          <a:xfrm>
            <a:off x="1069848" y="3803904"/>
            <a:ext cx="189052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要补的能力：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提升方式：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达到的水平：</a:t>
            </a:r>
          </a:p>
        </p:txBody>
      </p:sp>
      <p:sp>
        <p:nvSpPr>
          <p:cNvPr id="1013" name="tl-dot-1"/>
          <p:cNvSpPr/>
          <p:nvPr/>
        </p:nvSpPr>
        <p:spPr>
          <a:xfrm>
            <a:off x="4509135" y="2249424"/>
            <a:ext cx="292608" cy="292608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/>
        </p:txBody>
      </p:sp>
      <p:sp>
        <p:nvSpPr>
          <p:cNvPr id="1014" name="tl-q-1"/>
          <p:cNvSpPr/>
          <p:nvPr/>
        </p:nvSpPr>
        <p:spPr>
          <a:xfrm>
            <a:off x="3490722" y="2688336"/>
            <a:ext cx="232943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3 个月</a:t>
            </a:r>
          </a:p>
        </p:txBody>
      </p:sp>
      <p:sp>
        <p:nvSpPr>
          <p:cNvPr id="1015" name="tl-card-1"/>
          <p:cNvSpPr/>
          <p:nvPr/>
        </p:nvSpPr>
        <p:spPr>
          <a:xfrm>
            <a:off x="3490722" y="3145536"/>
            <a:ext cx="2329434" cy="2743200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16" name="tl-t-1"/>
          <p:cNvSpPr/>
          <p:nvPr/>
        </p:nvSpPr>
        <p:spPr>
          <a:xfrm>
            <a:off x="3710178" y="3364992"/>
            <a:ext cx="18905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独立承担</a:t>
            </a:r>
          </a:p>
        </p:txBody>
      </p:sp>
      <p:sp>
        <p:nvSpPr>
          <p:cNvPr id="1017" name="tl-b-1"/>
          <p:cNvSpPr/>
          <p:nvPr/>
        </p:nvSpPr>
        <p:spPr>
          <a:xfrm>
            <a:off x="3710178" y="3803904"/>
            <a:ext cx="189052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要补的能力：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提升方式：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达到的水平：</a:t>
            </a:r>
          </a:p>
        </p:txBody>
      </p:sp>
      <p:sp>
        <p:nvSpPr>
          <p:cNvPr id="1018" name="tl-dot-2"/>
          <p:cNvSpPr/>
          <p:nvPr/>
        </p:nvSpPr>
        <p:spPr>
          <a:xfrm>
            <a:off x="7149465" y="2249424"/>
            <a:ext cx="292608" cy="292608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/>
        </p:txBody>
      </p:sp>
      <p:sp>
        <p:nvSpPr>
          <p:cNvPr id="1019" name="tl-q-2"/>
          <p:cNvSpPr/>
          <p:nvPr/>
        </p:nvSpPr>
        <p:spPr>
          <a:xfrm>
            <a:off x="6131052" y="2688336"/>
            <a:ext cx="232943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6 个月</a:t>
            </a:r>
          </a:p>
        </p:txBody>
      </p:sp>
      <p:sp>
        <p:nvSpPr>
          <p:cNvPr id="1020" name="tl-card-2"/>
          <p:cNvSpPr/>
          <p:nvPr/>
        </p:nvSpPr>
        <p:spPr>
          <a:xfrm>
            <a:off x="6131052" y="3145536"/>
            <a:ext cx="2329434" cy="2743200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21" name="tl-t-2"/>
          <p:cNvSpPr/>
          <p:nvPr/>
        </p:nvSpPr>
        <p:spPr>
          <a:xfrm>
            <a:off x="6350508" y="3364992"/>
            <a:ext cx="18905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能力拓展</a:t>
            </a:r>
          </a:p>
        </p:txBody>
      </p:sp>
      <p:sp>
        <p:nvSpPr>
          <p:cNvPr id="1022" name="tl-b-2"/>
          <p:cNvSpPr/>
          <p:nvPr/>
        </p:nvSpPr>
        <p:spPr>
          <a:xfrm>
            <a:off x="6350508" y="3803904"/>
            <a:ext cx="189052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要补的能力：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提升方式：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达到的水平：</a:t>
            </a:r>
          </a:p>
        </p:txBody>
      </p:sp>
      <p:sp>
        <p:nvSpPr>
          <p:cNvPr id="1023" name="tl-dot-3"/>
          <p:cNvSpPr/>
          <p:nvPr/>
        </p:nvSpPr>
        <p:spPr>
          <a:xfrm>
            <a:off x="9789795" y="2249424"/>
            <a:ext cx="292608" cy="292608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/>
        </p:txBody>
      </p:sp>
      <p:sp>
        <p:nvSpPr>
          <p:cNvPr id="1024" name="tl-q-3"/>
          <p:cNvSpPr/>
          <p:nvPr/>
        </p:nvSpPr>
        <p:spPr>
          <a:xfrm>
            <a:off x="8771382" y="2688336"/>
            <a:ext cx="232943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12 个月</a:t>
            </a:r>
          </a:p>
        </p:txBody>
      </p:sp>
      <p:sp>
        <p:nvSpPr>
          <p:cNvPr id="1025" name="tl-card-3"/>
          <p:cNvSpPr/>
          <p:nvPr/>
        </p:nvSpPr>
        <p:spPr>
          <a:xfrm>
            <a:off x="8771382" y="3145536"/>
            <a:ext cx="2329434" cy="2743200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1026" name="tl-t-3"/>
          <p:cNvSpPr/>
          <p:nvPr/>
        </p:nvSpPr>
        <p:spPr>
          <a:xfrm>
            <a:off x="8990838" y="3364992"/>
            <a:ext cx="189052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5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成为骨干</a:t>
            </a:r>
          </a:p>
        </p:txBody>
      </p:sp>
      <p:sp>
        <p:nvSpPr>
          <p:cNvPr id="1027" name="tl-b-3"/>
          <p:cNvSpPr/>
          <p:nvPr/>
        </p:nvSpPr>
        <p:spPr>
          <a:xfrm>
            <a:off x="8990838" y="3803904"/>
            <a:ext cx="189052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要补的能力：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提升方式：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3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达到的水平：</a:t>
            </a:r>
          </a:p>
        </p:txBody>
      </p:sp>
    </p:spTree>
    <p:extLst>
      <p:ext uri="{BB962C8B-B14F-4D97-AF65-F5344CB8AC3E}">
        <p14:creationId xmlns:p14="http://schemas.microsoft.com/office/powerpoint/2010/main" val="3484219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83859-9508-5048-BAED-C5C66E701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2606040"/>
            <a:ext cx="9144000" cy="1188720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5400" b="1" dirty="0">
                <a:solidFill>
                  <a:srgbClr val="0065A6"/>
                </a:solidFill>
                <a:latin typeface="微软雅黑" pitchFamily="34" charset="-122"/>
                <a:ea typeface="微软雅黑" pitchFamily="34" charset="-122"/>
              </a:rPr>
              <a:t>谢谢！</a:t>
            </a:r>
          </a:p>
        </p:txBody>
      </p:sp>
      <p:sp>
        <p:nvSpPr>
          <p:cNvPr id="1073" name="thx-accent"/>
          <p:cNvSpPr/>
          <p:nvPr/>
        </p:nvSpPr>
        <p:spPr>
          <a:xfrm>
            <a:off x="5367528" y="4041648"/>
            <a:ext cx="1463040" cy="50292"/>
          </a:xfrm>
          <a:prstGeom prst="rect">
            <a:avLst/>
          </a:prstGeom>
          <a:solidFill>
            <a:srgbClr val="0065A6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916838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CE8A33-EE9E-3641-89BD-02B8979A8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  <a:pPr/>
              <a:t>8</a:t>
            </a:fld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D73751C-62A3-4488-BD1C-DA6762E8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393573"/>
            <a:ext cx="7050240" cy="520827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 从校园到职场的转变与自我复盘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12FCDA5E-40BA-495E-8756-EE54B7DCB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92" y="1060704"/>
            <a:ext cx="10250424" cy="658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微软雅黑" panose="02010609060101010101" pitchFamily="49" charset="-122"/>
              </a:defRPr>
            </a:lvl9pPr>
          </a:lstStyle>
          <a:p>
            <a:pPr algn="l"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说明：用试用期里的具体事例说明转变；复盘部分要有带教导师的反馈和明确的改进动作。</a:t>
            </a:r>
          </a:p>
          <a:p>
            <a:pPr algn="l">
              <a:spcBef>
                <a:spcPts val="400"/>
              </a:spcBef>
              <a:buNone/>
            </a:pPr>
            <a:r>
              <a:rPr lang="zh-CN" altLang="en-US" sz="12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这一页是校招转正答辩的核心考察点：讲清"我变成了什么样的人"，而不是"我做了什么事"。</a:t>
            </a:r>
          </a:p>
        </p:txBody>
      </p:sp>
      <p:sp>
        <p:nvSpPr>
          <p:cNvPr id="970" name="ph-card-0"/>
          <p:cNvSpPr/>
          <p:nvPr/>
        </p:nvSpPr>
        <p:spPr>
          <a:xfrm>
            <a:off x="850392" y="1920240"/>
            <a:ext cx="3209544" cy="40416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71" name="ph-badge-0"/>
          <p:cNvSpPr/>
          <p:nvPr/>
        </p:nvSpPr>
        <p:spPr>
          <a:xfrm>
            <a:off x="1124712" y="2176272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72" name="ph-title-0"/>
          <p:cNvSpPr/>
          <p:nvPr/>
        </p:nvSpPr>
        <p:spPr>
          <a:xfrm>
            <a:off x="1673352" y="2176272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认知转变</a:t>
            </a:r>
          </a:p>
        </p:txBody>
      </p:sp>
      <p:sp>
        <p:nvSpPr>
          <p:cNvPr id="973" name="ph-body-0"/>
          <p:cNvSpPr/>
          <p:nvPr/>
        </p:nvSpPr>
        <p:spPr>
          <a:xfrm>
            <a:off x="1124712" y="2761488"/>
            <a:ext cx="2660904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对"交付结果"的理解：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对质量与时间的认识：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（配一个具体事例）</a:t>
            </a:r>
          </a:p>
        </p:txBody>
      </p:sp>
      <p:sp>
        <p:nvSpPr>
          <p:cNvPr id="974" name="ph-card-1"/>
          <p:cNvSpPr/>
          <p:nvPr/>
        </p:nvSpPr>
        <p:spPr>
          <a:xfrm>
            <a:off x="4370832" y="1920240"/>
            <a:ext cx="3209544" cy="40416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75" name="ph-badge-1"/>
          <p:cNvSpPr/>
          <p:nvPr/>
        </p:nvSpPr>
        <p:spPr>
          <a:xfrm>
            <a:off x="4645152" y="2176272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976" name="ph-title-1"/>
          <p:cNvSpPr/>
          <p:nvPr/>
        </p:nvSpPr>
        <p:spPr>
          <a:xfrm>
            <a:off x="5193792" y="2176272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方式转变</a:t>
            </a:r>
          </a:p>
        </p:txBody>
      </p:sp>
      <p:sp>
        <p:nvSpPr>
          <p:cNvPr id="977" name="ph-body-1"/>
          <p:cNvSpPr/>
          <p:nvPr/>
        </p:nvSpPr>
        <p:spPr>
          <a:xfrm>
            <a:off x="4645152" y="2761488"/>
            <a:ext cx="2660904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沟通与向上反馈：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跨团队协作：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主动性的体现：</a:t>
            </a:r>
          </a:p>
        </p:txBody>
      </p:sp>
      <p:sp>
        <p:nvSpPr>
          <p:cNvPr id="978" name="ph-card-2"/>
          <p:cNvSpPr/>
          <p:nvPr/>
        </p:nvSpPr>
        <p:spPr>
          <a:xfrm>
            <a:off x="7891272" y="1920240"/>
            <a:ext cx="3209544" cy="40416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</p:spPr>
        <p:txBody>
          <a:bodyPr wrap="square" lIns="128016" tIns="91440" rIns="128016" bIns="91440" anchor="ctr">
            <a:normAutofit/>
          </a:bodyPr>
          <a:lstStyle/>
          <a:p/>
        </p:txBody>
      </p:sp>
      <p:sp>
        <p:nvSpPr>
          <p:cNvPr id="979" name="ph-badge-2"/>
          <p:cNvSpPr/>
          <p:nvPr/>
        </p:nvSpPr>
        <p:spPr>
          <a:xfrm>
            <a:off x="8165592" y="2176272"/>
            <a:ext cx="420624" cy="420624"/>
          </a:xfrm>
          <a:prstGeom prst="ellipse">
            <a:avLst/>
          </a:prstGeom>
          <a:solidFill>
            <a:srgbClr val="0065A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980" name="ph-title-2"/>
          <p:cNvSpPr/>
          <p:nvPr/>
        </p:nvSpPr>
        <p:spPr>
          <a:xfrm>
            <a:off x="8714232" y="2176272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0477A"/>
                </a:solidFill>
                <a:latin typeface="微软雅黑" pitchFamily="34" charset="-122"/>
                <a:ea typeface="微软雅黑" pitchFamily="34" charset="-122"/>
              </a:rPr>
              <a:t>自我复盘</a:t>
            </a:r>
          </a:p>
        </p:txBody>
      </p:sp>
      <p:sp>
        <p:nvSpPr>
          <p:cNvPr id="981" name="ph-body-2"/>
          <p:cNvSpPr/>
          <p:nvPr/>
        </p:nvSpPr>
        <p:spPr>
          <a:xfrm>
            <a:off x="8165592" y="2761488"/>
            <a:ext cx="2660904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做得不够的地方：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带教导师的反馈：</a:t>
            </a:r>
          </a:p>
          <a:p>
            <a:pPr algn="l">
              <a:spcBef>
                <a:spcPts val="900"/>
              </a:spcBef>
              <a:buNone/>
            </a:pPr>
            <a:r>
              <a:rPr lang="zh-CN" altLang="en-US" sz="1400" b="0" dirty="0">
                <a:solidFill>
                  <a:srgbClr val="5A6B7B"/>
                </a:solidFill>
                <a:latin typeface="微软雅黑" pitchFamily="34" charset="-122"/>
                <a:ea typeface="微软雅黑" pitchFamily="34" charset="-122"/>
              </a:rPr>
              <a:t>具体改进动作：</a:t>
            </a:r>
          </a:p>
        </p:txBody>
      </p:sp>
    </p:spTree>
    <p:extLst>
      <p:ext uri="{BB962C8B-B14F-4D97-AF65-F5344CB8AC3E}">
        <p14:creationId xmlns:p14="http://schemas.microsoft.com/office/powerpoint/2010/main" val="3772942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420</Words>
  <Application>Microsoft Office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Wingdings</vt:lpstr>
      <vt:lpstr>Office 主题</vt:lpstr>
      <vt:lpstr>新进人员任前答辩材料</vt:lpstr>
      <vt:lpstr>PowerPoint 演示文稿</vt:lpstr>
      <vt:lpstr>PowerPoint 演示文稿</vt:lpstr>
      <vt:lpstr>PowerPoint 演示文稿</vt:lpstr>
      <vt:lpstr>1.2 项目与科研经历</vt:lpstr>
      <vt:lpstr>PowerPoint 演示文稿</vt:lpstr>
      <vt:lpstr>2.1 试用期间的工作总结——亮点及价值贡献</vt:lpstr>
      <vt:lpstr>2.2 试用期间的主要发现、问题思考与改进建议</vt:lpstr>
      <vt:lpstr>2.3 从校园到职场的转变与自我复盘</vt:lpstr>
      <vt:lpstr>PowerPoint 演示文稿</vt:lpstr>
      <vt:lpstr>3.1 对转正岗位及定位的理解</vt:lpstr>
      <vt:lpstr>3.2 转正后的工作计划</vt:lpstr>
      <vt:lpstr>3.3 能力提升路径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校招生转正答辩模板</dc:title>
  <dc:creator/>
  <cp:lastModifiedBy/>
  <cp:revision>23</cp:revision>
  <dcterms:created xsi:type="dcterms:W3CDTF">2020-08-07T01:22:26Z</dcterms:created>
  <dcterms:modified xsi:type="dcterms:W3CDTF">2022-02-08T03:13:24Z</dcterms:modified>
</cp:coreProperties>
</file>